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3"/>
  </p:notesMasterIdLst>
  <p:handoutMasterIdLst>
    <p:handoutMasterId r:id="rId14"/>
  </p:handoutMasterIdLst>
  <p:sldIdLst>
    <p:sldId id="256" r:id="rId2"/>
    <p:sldId id="257" r:id="rId3"/>
    <p:sldId id="258" r:id="rId4"/>
    <p:sldId id="259" r:id="rId5"/>
    <p:sldId id="269" r:id="rId19"/>
    <p:sldId id="260" r:id="rId6"/>
    <p:sldId id="270" r:id="rId20"/>
    <p:sldId id="265" r:id="rId7"/>
    <p:sldId id="261" r:id="rId8"/>
    <p:sldId id="262" r:id="rId9"/>
    <p:sldId id="271" r:id="rId21"/>
    <p:sldId id="272" r:id="rId22"/>
    <p:sldId id="273" r:id="rId23"/>
    <p:sldId id="264" r:id="rId10"/>
    <p:sldId id="266"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25" d="100"/>
          <a:sy n="125" d="100"/>
        </p:scale>
        <p:origin x="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4.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5.xml"/><Relationship Id="rId20" Type="http://schemas.openxmlformats.org/officeDocument/2006/relationships/slide" Target="slides/slide7.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png"/><Relationship Id="rId6" Type="http://schemas.openxmlformats.org/officeDocument/2006/relationships/image" Target="../media/image14.svg"/><Relationship Id="rId7" Type="http://schemas.openxmlformats.org/officeDocument/2006/relationships/image" Target="../media/image15.png"/><Relationship Id="rId8" Type="http://schemas.openxmlformats.org/officeDocument/2006/relationships/image" Target="../media/image16.svg"/><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image" Target="../media/image19.png"/><Relationship Id="rId12"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png"/><Relationship Id="rId6" Type="http://schemas.openxmlformats.org/officeDocument/2006/relationships/image" Target="../media/image14.svg"/><Relationship Id="rId7" Type="http://schemas.openxmlformats.org/officeDocument/2006/relationships/image" Target="../media/image15.png"/><Relationship Id="rId8" Type="http://schemas.openxmlformats.org/officeDocument/2006/relationships/image" Target="../media/image16.svg"/><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image" Target="../media/image19.png"/><Relationship Id="rId12"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BAAD3D-2476-414F-B6C2-65B35AB52AB0}"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AAADBC1-9180-4AC9-843A-2484AC3E60E9}">
      <dgm:prSet/>
      <dgm:spPr/>
      <dgm:t>
        <a:bodyPr/>
        <a:lstStyle/>
        <a:p>
          <a:pPr>
            <a:lnSpc>
              <a:spcPct val="100000"/>
            </a:lnSpc>
          </a:pPr>
          <a:r>
            <a:rPr lang="en-US"/>
            <a:t>The WorkFusion platform is designed to support organizations that require a structured and controlled hiring workflow. This includes startups, small businesses, local enterprises such as restaurants or retail stores, and organizations managing full-time, part-time, or contract-based recruitment. The system enables centralized job posting, application tracking, and clearly defined hiring stages within a single platform.</a:t>
          </a:r>
        </a:p>
      </dgm:t>
    </dgm:pt>
    <dgm:pt modelId="{18A089DB-88DC-41E5-854D-AE73E671C74C}" type="parTrans" cxnId="{B6775A7E-92B2-4B8A-A24E-C2A8F0481C12}">
      <dgm:prSet/>
      <dgm:spPr/>
      <dgm:t>
        <a:bodyPr/>
        <a:lstStyle/>
        <a:p>
          <a:endParaRPr lang="en-US"/>
        </a:p>
      </dgm:t>
    </dgm:pt>
    <dgm:pt modelId="{2648DF62-24EB-4D80-8AF7-D60E671BE739}" type="sibTrans" cxnId="{B6775A7E-92B2-4B8A-A24E-C2A8F0481C12}">
      <dgm:prSet/>
      <dgm:spPr/>
      <dgm:t>
        <a:bodyPr/>
        <a:lstStyle/>
        <a:p>
          <a:endParaRPr lang="en-US"/>
        </a:p>
      </dgm:t>
    </dgm:pt>
    <dgm:pt modelId="{9220C1B6-BEB4-480F-A449-BBC97833266D}">
      <dgm:prSet/>
      <dgm:spPr/>
      <dgm:t>
        <a:bodyPr/>
        <a:lstStyle/>
        <a:p>
          <a:pPr>
            <a:lnSpc>
              <a:spcPct val="100000"/>
            </a:lnSpc>
          </a:pPr>
          <a:r>
            <a:rPr lang="en-US"/>
            <a:t>The platform focuses specifically on enforcing role-based access and structured application lifecycle management. It is intended for environments where organized recruitment processes are required, ensuring transparency, workflow control, and proper separation of responsibilities between employers, job seekers, and administrators.</a:t>
          </a:r>
        </a:p>
      </dgm:t>
    </dgm:pt>
    <dgm:pt modelId="{C9BB0687-8F82-4AB9-BED3-93F2CA238B63}" type="parTrans" cxnId="{4F813245-3B11-4621-9F3F-614853E8BA16}">
      <dgm:prSet/>
      <dgm:spPr/>
      <dgm:t>
        <a:bodyPr/>
        <a:lstStyle/>
        <a:p>
          <a:endParaRPr lang="en-US"/>
        </a:p>
      </dgm:t>
    </dgm:pt>
    <dgm:pt modelId="{8018DA59-DCAA-4F4E-991C-6B170261C7EA}" type="sibTrans" cxnId="{4F813245-3B11-4621-9F3F-614853E8BA16}">
      <dgm:prSet/>
      <dgm:spPr/>
      <dgm:t>
        <a:bodyPr/>
        <a:lstStyle/>
        <a:p>
          <a:endParaRPr lang="en-US"/>
        </a:p>
      </dgm:t>
    </dgm:pt>
    <dgm:pt modelId="{41B8CEDE-336D-4C9E-A515-F55DCBE1A433}" type="pres">
      <dgm:prSet presAssocID="{B1BAAD3D-2476-414F-B6C2-65B35AB52AB0}" presName="root" presStyleCnt="0">
        <dgm:presLayoutVars>
          <dgm:dir/>
          <dgm:resizeHandles val="exact"/>
        </dgm:presLayoutVars>
      </dgm:prSet>
      <dgm:spPr/>
    </dgm:pt>
    <dgm:pt modelId="{3403814D-A6E9-4B75-8591-FE49364BC074}" type="pres">
      <dgm:prSet presAssocID="{AAAADBC1-9180-4AC9-843A-2484AC3E60E9}" presName="compNode" presStyleCnt="0"/>
      <dgm:spPr/>
    </dgm:pt>
    <dgm:pt modelId="{0103B48D-959E-4679-BBB3-FBCE326AF3D1}" type="pres">
      <dgm:prSet presAssocID="{AAAADBC1-9180-4AC9-843A-2484AC3E60E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BFAA6BE9-BFFE-4CA6-A0E8-053D99B4D004}" type="pres">
      <dgm:prSet presAssocID="{AAAADBC1-9180-4AC9-843A-2484AC3E60E9}" presName="spaceRect" presStyleCnt="0"/>
      <dgm:spPr/>
    </dgm:pt>
    <dgm:pt modelId="{6B2EF6AF-2B07-4285-84BF-CF6227ED6D3C}" type="pres">
      <dgm:prSet presAssocID="{AAAADBC1-9180-4AC9-843A-2484AC3E60E9}" presName="textRect" presStyleLbl="revTx" presStyleIdx="0" presStyleCnt="2">
        <dgm:presLayoutVars>
          <dgm:chMax val="1"/>
          <dgm:chPref val="1"/>
        </dgm:presLayoutVars>
      </dgm:prSet>
      <dgm:spPr/>
    </dgm:pt>
    <dgm:pt modelId="{1188D374-F55B-4A06-AD24-E92B3B12DFC9}" type="pres">
      <dgm:prSet presAssocID="{2648DF62-24EB-4D80-8AF7-D60E671BE739}" presName="sibTrans" presStyleCnt="0"/>
      <dgm:spPr/>
    </dgm:pt>
    <dgm:pt modelId="{85C9CEB3-7012-4BDE-BDEA-D42FB3D730BC}" type="pres">
      <dgm:prSet presAssocID="{9220C1B6-BEB4-480F-A449-BBC97833266D}" presName="compNode" presStyleCnt="0"/>
      <dgm:spPr/>
    </dgm:pt>
    <dgm:pt modelId="{8EA4A150-4C86-43F4-86B3-ACC007A3B1F9}" type="pres">
      <dgm:prSet presAssocID="{9220C1B6-BEB4-480F-A449-BBC9783326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ECD558A6-C07A-4757-AE94-ABFE7B2700D7}" type="pres">
      <dgm:prSet presAssocID="{9220C1B6-BEB4-480F-A449-BBC97833266D}" presName="spaceRect" presStyleCnt="0"/>
      <dgm:spPr/>
    </dgm:pt>
    <dgm:pt modelId="{2F1767B3-009F-42FE-96B8-723A247EDA9C}" type="pres">
      <dgm:prSet presAssocID="{9220C1B6-BEB4-480F-A449-BBC97833266D}" presName="textRect" presStyleLbl="revTx" presStyleIdx="1" presStyleCnt="2">
        <dgm:presLayoutVars>
          <dgm:chMax val="1"/>
          <dgm:chPref val="1"/>
        </dgm:presLayoutVars>
      </dgm:prSet>
      <dgm:spPr/>
    </dgm:pt>
  </dgm:ptLst>
  <dgm:cxnLst>
    <dgm:cxn modelId="{3292F60D-C079-453B-93CE-42FB6966C28D}" type="presOf" srcId="{9220C1B6-BEB4-480F-A449-BBC97833266D}" destId="{2F1767B3-009F-42FE-96B8-723A247EDA9C}" srcOrd="0" destOrd="0" presId="urn:microsoft.com/office/officeart/2018/2/layout/IconLabelList"/>
    <dgm:cxn modelId="{9939C941-1E96-4498-B2B1-437AF3F949AB}" type="presOf" srcId="{AAAADBC1-9180-4AC9-843A-2484AC3E60E9}" destId="{6B2EF6AF-2B07-4285-84BF-CF6227ED6D3C}" srcOrd="0" destOrd="0" presId="urn:microsoft.com/office/officeart/2018/2/layout/IconLabelList"/>
    <dgm:cxn modelId="{4F813245-3B11-4621-9F3F-614853E8BA16}" srcId="{B1BAAD3D-2476-414F-B6C2-65B35AB52AB0}" destId="{9220C1B6-BEB4-480F-A449-BBC97833266D}" srcOrd="1" destOrd="0" parTransId="{C9BB0687-8F82-4AB9-BED3-93F2CA238B63}" sibTransId="{8018DA59-DCAA-4F4E-991C-6B170261C7EA}"/>
    <dgm:cxn modelId="{B6775A7E-92B2-4B8A-A24E-C2A8F0481C12}" srcId="{B1BAAD3D-2476-414F-B6C2-65B35AB52AB0}" destId="{AAAADBC1-9180-4AC9-843A-2484AC3E60E9}" srcOrd="0" destOrd="0" parTransId="{18A089DB-88DC-41E5-854D-AE73E671C74C}" sibTransId="{2648DF62-24EB-4D80-8AF7-D60E671BE739}"/>
    <dgm:cxn modelId="{EDEC1FFC-54D8-4D86-BFAB-C38A810D746C}" type="presOf" srcId="{B1BAAD3D-2476-414F-B6C2-65B35AB52AB0}" destId="{41B8CEDE-336D-4C9E-A515-F55DCBE1A433}" srcOrd="0" destOrd="0" presId="urn:microsoft.com/office/officeart/2018/2/layout/IconLabelList"/>
    <dgm:cxn modelId="{68F0FDD8-0EE6-4F65-9A09-55AC8DD220F6}" type="presParOf" srcId="{41B8CEDE-336D-4C9E-A515-F55DCBE1A433}" destId="{3403814D-A6E9-4B75-8591-FE49364BC074}" srcOrd="0" destOrd="0" presId="urn:microsoft.com/office/officeart/2018/2/layout/IconLabelList"/>
    <dgm:cxn modelId="{7391CC4E-14B3-484A-BFBD-4D4F6C6DDC92}" type="presParOf" srcId="{3403814D-A6E9-4B75-8591-FE49364BC074}" destId="{0103B48D-959E-4679-BBB3-FBCE326AF3D1}" srcOrd="0" destOrd="0" presId="urn:microsoft.com/office/officeart/2018/2/layout/IconLabelList"/>
    <dgm:cxn modelId="{8B0AE103-0901-4DB3-BD52-208434192662}" type="presParOf" srcId="{3403814D-A6E9-4B75-8591-FE49364BC074}" destId="{BFAA6BE9-BFFE-4CA6-A0E8-053D99B4D004}" srcOrd="1" destOrd="0" presId="urn:microsoft.com/office/officeart/2018/2/layout/IconLabelList"/>
    <dgm:cxn modelId="{86E32317-DD5E-4861-8646-FB345A36FD0D}" type="presParOf" srcId="{3403814D-A6E9-4B75-8591-FE49364BC074}" destId="{6B2EF6AF-2B07-4285-84BF-CF6227ED6D3C}" srcOrd="2" destOrd="0" presId="urn:microsoft.com/office/officeart/2018/2/layout/IconLabelList"/>
    <dgm:cxn modelId="{1F15EB22-DC1B-4EBB-95F5-82D2C9BAE9BA}" type="presParOf" srcId="{41B8CEDE-336D-4C9E-A515-F55DCBE1A433}" destId="{1188D374-F55B-4A06-AD24-E92B3B12DFC9}" srcOrd="1" destOrd="0" presId="urn:microsoft.com/office/officeart/2018/2/layout/IconLabelList"/>
    <dgm:cxn modelId="{46F38251-4C6A-4CFF-9E1F-68EAB251A47B}" type="presParOf" srcId="{41B8CEDE-336D-4C9E-A515-F55DCBE1A433}" destId="{85C9CEB3-7012-4BDE-BDEA-D42FB3D730BC}" srcOrd="2" destOrd="0" presId="urn:microsoft.com/office/officeart/2018/2/layout/IconLabelList"/>
    <dgm:cxn modelId="{C7627897-3740-4418-BDA1-B2E19E33BFC8}" type="presParOf" srcId="{85C9CEB3-7012-4BDE-BDEA-D42FB3D730BC}" destId="{8EA4A150-4C86-43F4-86B3-ACC007A3B1F9}" srcOrd="0" destOrd="0" presId="urn:microsoft.com/office/officeart/2018/2/layout/IconLabelList"/>
    <dgm:cxn modelId="{E79AC7C7-D4D0-4A83-BBC4-D3D93B1433B1}" type="presParOf" srcId="{85C9CEB3-7012-4BDE-BDEA-D42FB3D730BC}" destId="{ECD558A6-C07A-4757-AE94-ABFE7B2700D7}" srcOrd="1" destOrd="0" presId="urn:microsoft.com/office/officeart/2018/2/layout/IconLabelList"/>
    <dgm:cxn modelId="{8A5E0B32-2EAC-4254-AD9D-CC5196837807}" type="presParOf" srcId="{85C9CEB3-7012-4BDE-BDEA-D42FB3D730BC}" destId="{2F1767B3-009F-42FE-96B8-723A247EDA9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6550C3-EEC0-4845-B4A1-5540F453809B}"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EF7AF9A3-703D-419C-9557-A097C1A36A32}">
      <dgm:prSet/>
      <dgm:spPr/>
      <dgm:t>
        <a:bodyPr/>
        <a:lstStyle/>
        <a:p>
          <a:r>
            <a:rPr lang="en-US" b="1"/>
            <a:t>Frontend Development</a:t>
          </a:r>
          <a:endParaRPr lang="en-US"/>
        </a:p>
      </dgm:t>
    </dgm:pt>
    <dgm:pt modelId="{A5921C91-200F-4B34-97B5-143F62584C15}" type="parTrans" cxnId="{47BC3C54-D3C2-43A3-B345-0BB08872EC63}">
      <dgm:prSet/>
      <dgm:spPr/>
      <dgm:t>
        <a:bodyPr/>
        <a:lstStyle/>
        <a:p>
          <a:endParaRPr lang="en-US"/>
        </a:p>
      </dgm:t>
    </dgm:pt>
    <dgm:pt modelId="{47542F99-72E5-4914-A6C4-E4AACF4B16DF}" type="sibTrans" cxnId="{47BC3C54-D3C2-43A3-B345-0BB08872EC63}">
      <dgm:prSet/>
      <dgm:spPr/>
      <dgm:t>
        <a:bodyPr/>
        <a:lstStyle/>
        <a:p>
          <a:endParaRPr lang="en-US"/>
        </a:p>
      </dgm:t>
    </dgm:pt>
    <dgm:pt modelId="{E8F5130E-4FFF-451F-BB1B-5609C5375DA8}">
      <dgm:prSet/>
      <dgm:spPr/>
      <dgm:t>
        <a:bodyPr/>
        <a:lstStyle/>
        <a:p>
          <a:r>
            <a:rPr lang="en-US"/>
            <a:t>React.js</a:t>
          </a:r>
        </a:p>
      </dgm:t>
    </dgm:pt>
    <dgm:pt modelId="{E9F3D9CB-D2BB-4A4F-972F-CAC80C868511}" type="parTrans" cxnId="{2CCC5A71-6181-4393-AD7E-86B904007A45}">
      <dgm:prSet/>
      <dgm:spPr/>
      <dgm:t>
        <a:bodyPr/>
        <a:lstStyle/>
        <a:p>
          <a:endParaRPr lang="en-US"/>
        </a:p>
      </dgm:t>
    </dgm:pt>
    <dgm:pt modelId="{CD2B2B20-8276-4F50-8CC3-C6F6DC47D852}" type="sibTrans" cxnId="{2CCC5A71-6181-4393-AD7E-86B904007A45}">
      <dgm:prSet/>
      <dgm:spPr/>
      <dgm:t>
        <a:bodyPr/>
        <a:lstStyle/>
        <a:p>
          <a:endParaRPr lang="en-US"/>
        </a:p>
      </dgm:t>
    </dgm:pt>
    <dgm:pt modelId="{E863F539-04EA-4B63-AAA6-D61AAE41B564}">
      <dgm:prSet/>
      <dgm:spPr/>
      <dgm:t>
        <a:bodyPr/>
        <a:lstStyle/>
        <a:p>
          <a:r>
            <a:rPr lang="en-US"/>
            <a:t>HTML5</a:t>
          </a:r>
        </a:p>
      </dgm:t>
    </dgm:pt>
    <dgm:pt modelId="{17C71BF2-B612-4231-9A62-3B6834CC1FFA}" type="parTrans" cxnId="{669EB245-B0AE-4053-83C4-AD7A1D36E157}">
      <dgm:prSet/>
      <dgm:spPr/>
      <dgm:t>
        <a:bodyPr/>
        <a:lstStyle/>
        <a:p>
          <a:endParaRPr lang="en-US"/>
        </a:p>
      </dgm:t>
    </dgm:pt>
    <dgm:pt modelId="{825B4B06-8324-41A2-8A36-A644C27DAE26}" type="sibTrans" cxnId="{669EB245-B0AE-4053-83C4-AD7A1D36E157}">
      <dgm:prSet/>
      <dgm:spPr/>
      <dgm:t>
        <a:bodyPr/>
        <a:lstStyle/>
        <a:p>
          <a:endParaRPr lang="en-US"/>
        </a:p>
      </dgm:t>
    </dgm:pt>
    <dgm:pt modelId="{FA709653-6C00-435B-B610-F2CCDAC1643B}">
      <dgm:prSet/>
      <dgm:spPr/>
      <dgm:t>
        <a:bodyPr/>
        <a:lstStyle/>
        <a:p>
          <a:r>
            <a:rPr lang="en-US"/>
            <a:t>CSS3</a:t>
          </a:r>
        </a:p>
      </dgm:t>
    </dgm:pt>
    <dgm:pt modelId="{66A691B0-F73B-4E9C-89B3-742F33EABADC}" type="parTrans" cxnId="{C0E47C75-CFA6-461B-BC98-3EEA624D0495}">
      <dgm:prSet/>
      <dgm:spPr/>
      <dgm:t>
        <a:bodyPr/>
        <a:lstStyle/>
        <a:p>
          <a:endParaRPr lang="en-US"/>
        </a:p>
      </dgm:t>
    </dgm:pt>
    <dgm:pt modelId="{D860296C-31AD-4C0D-AD22-2E03BE8CFCE5}" type="sibTrans" cxnId="{C0E47C75-CFA6-461B-BC98-3EEA624D0495}">
      <dgm:prSet/>
      <dgm:spPr/>
      <dgm:t>
        <a:bodyPr/>
        <a:lstStyle/>
        <a:p>
          <a:endParaRPr lang="en-US"/>
        </a:p>
      </dgm:t>
    </dgm:pt>
    <dgm:pt modelId="{45FEF127-6D47-4384-B427-45A84FEFC9E6}">
      <dgm:prSet/>
      <dgm:spPr/>
      <dgm:t>
        <a:bodyPr/>
        <a:lstStyle/>
        <a:p>
          <a:r>
            <a:rPr lang="en-US"/>
            <a:t>JavaScript</a:t>
          </a:r>
        </a:p>
      </dgm:t>
    </dgm:pt>
    <dgm:pt modelId="{7EA768D4-2EEB-4BEF-ACFF-B7BFA2F8FC12}" type="parTrans" cxnId="{D82B5AEB-5156-4F67-B491-D88E75CC00BD}">
      <dgm:prSet/>
      <dgm:spPr/>
      <dgm:t>
        <a:bodyPr/>
        <a:lstStyle/>
        <a:p>
          <a:endParaRPr lang="en-US"/>
        </a:p>
      </dgm:t>
    </dgm:pt>
    <dgm:pt modelId="{991ABD50-66AD-4C7A-9E42-D667BE30CF11}" type="sibTrans" cxnId="{D82B5AEB-5156-4F67-B491-D88E75CC00BD}">
      <dgm:prSet/>
      <dgm:spPr/>
      <dgm:t>
        <a:bodyPr/>
        <a:lstStyle/>
        <a:p>
          <a:endParaRPr lang="en-US"/>
        </a:p>
      </dgm:t>
    </dgm:pt>
    <dgm:pt modelId="{2BDFCEAC-6EF6-48A1-B22A-F3184479FA6C}">
      <dgm:prSet/>
      <dgm:spPr/>
      <dgm:t>
        <a:bodyPr/>
        <a:lstStyle/>
        <a:p>
          <a:r>
            <a:rPr lang="en-US" b="1"/>
            <a:t>Backend Development</a:t>
          </a:r>
          <a:endParaRPr lang="en-US"/>
        </a:p>
      </dgm:t>
    </dgm:pt>
    <dgm:pt modelId="{C630DCD2-BD10-46BF-B255-F0EA10002FE9}" type="parTrans" cxnId="{8BBE32D0-47CB-4596-8A3F-D3F8434DD336}">
      <dgm:prSet/>
      <dgm:spPr/>
      <dgm:t>
        <a:bodyPr/>
        <a:lstStyle/>
        <a:p>
          <a:endParaRPr lang="en-US"/>
        </a:p>
      </dgm:t>
    </dgm:pt>
    <dgm:pt modelId="{C17641EE-1EF8-43C9-8F5D-AF334027DC32}" type="sibTrans" cxnId="{8BBE32D0-47CB-4596-8A3F-D3F8434DD336}">
      <dgm:prSet/>
      <dgm:spPr/>
      <dgm:t>
        <a:bodyPr/>
        <a:lstStyle/>
        <a:p>
          <a:endParaRPr lang="en-US"/>
        </a:p>
      </dgm:t>
    </dgm:pt>
    <dgm:pt modelId="{9EFDD1A5-8721-40DC-8E57-F43B770D11B1}">
      <dgm:prSet/>
      <dgm:spPr/>
      <dgm:t>
        <a:bodyPr/>
        <a:lstStyle/>
        <a:p>
          <a:r>
            <a:rPr lang="en-US"/>
            <a:t>Node.js</a:t>
          </a:r>
        </a:p>
      </dgm:t>
    </dgm:pt>
    <dgm:pt modelId="{54154594-8E22-4875-80F1-967AFBDD0872}" type="parTrans" cxnId="{F3D83C31-DE13-4F88-90F3-A39131F4CF3E}">
      <dgm:prSet/>
      <dgm:spPr/>
      <dgm:t>
        <a:bodyPr/>
        <a:lstStyle/>
        <a:p>
          <a:endParaRPr lang="en-US"/>
        </a:p>
      </dgm:t>
    </dgm:pt>
    <dgm:pt modelId="{23CEB32A-EBF1-43D7-9703-B6840798D052}" type="sibTrans" cxnId="{F3D83C31-DE13-4F88-90F3-A39131F4CF3E}">
      <dgm:prSet/>
      <dgm:spPr/>
      <dgm:t>
        <a:bodyPr/>
        <a:lstStyle/>
        <a:p>
          <a:endParaRPr lang="en-US"/>
        </a:p>
      </dgm:t>
    </dgm:pt>
    <dgm:pt modelId="{C2C57513-842A-4359-9EE7-883F030A1435}">
      <dgm:prSet/>
      <dgm:spPr/>
      <dgm:t>
        <a:bodyPr/>
        <a:lstStyle/>
        <a:p>
          <a:r>
            <a:rPr lang="en-US"/>
            <a:t>Express.js</a:t>
          </a:r>
        </a:p>
      </dgm:t>
    </dgm:pt>
    <dgm:pt modelId="{08EA3EFD-A3F5-42ED-844C-9051D5BC8F74}" type="parTrans" cxnId="{6775BC1C-D3A3-4A7E-8340-97B87FB93C27}">
      <dgm:prSet/>
      <dgm:spPr/>
      <dgm:t>
        <a:bodyPr/>
        <a:lstStyle/>
        <a:p>
          <a:endParaRPr lang="en-US"/>
        </a:p>
      </dgm:t>
    </dgm:pt>
    <dgm:pt modelId="{35F11446-556F-4D7A-BAB3-7FF76367F6D7}" type="sibTrans" cxnId="{6775BC1C-D3A3-4A7E-8340-97B87FB93C27}">
      <dgm:prSet/>
      <dgm:spPr/>
      <dgm:t>
        <a:bodyPr/>
        <a:lstStyle/>
        <a:p>
          <a:endParaRPr lang="en-US"/>
        </a:p>
      </dgm:t>
    </dgm:pt>
    <dgm:pt modelId="{7AF604B7-70DB-4F7A-81CF-C680E64E2ED0}">
      <dgm:prSet/>
      <dgm:spPr/>
      <dgm:t>
        <a:bodyPr/>
        <a:lstStyle/>
        <a:p>
          <a:r>
            <a:rPr lang="en-US" b="1"/>
            <a:t>Database</a:t>
          </a:r>
          <a:endParaRPr lang="en-US"/>
        </a:p>
      </dgm:t>
    </dgm:pt>
    <dgm:pt modelId="{51ED2E3A-235A-42A4-BC16-65C3C1A24C12}" type="parTrans" cxnId="{8D10C1F5-F16D-4DEF-A225-6C5AA12920F2}">
      <dgm:prSet/>
      <dgm:spPr/>
      <dgm:t>
        <a:bodyPr/>
        <a:lstStyle/>
        <a:p>
          <a:endParaRPr lang="en-US"/>
        </a:p>
      </dgm:t>
    </dgm:pt>
    <dgm:pt modelId="{0AF2AD77-1C00-49DB-BB7C-2EB8B36E659F}" type="sibTrans" cxnId="{8D10C1F5-F16D-4DEF-A225-6C5AA12920F2}">
      <dgm:prSet/>
      <dgm:spPr/>
      <dgm:t>
        <a:bodyPr/>
        <a:lstStyle/>
        <a:p>
          <a:endParaRPr lang="en-US"/>
        </a:p>
      </dgm:t>
    </dgm:pt>
    <dgm:pt modelId="{060E6877-4435-4859-8776-3297810E27E8}">
      <dgm:prSet/>
      <dgm:spPr/>
      <dgm:t>
        <a:bodyPr/>
        <a:lstStyle/>
        <a:p>
          <a:r>
            <a:rPr lang="en-US"/>
            <a:t>MongoDB (NoSQL Document Database)</a:t>
          </a:r>
        </a:p>
      </dgm:t>
    </dgm:pt>
    <dgm:pt modelId="{4EF94270-2F73-43F1-89C5-CD447808F268}" type="parTrans" cxnId="{E3FC0296-F5C9-4AD0-B1E8-D3ACB838686C}">
      <dgm:prSet/>
      <dgm:spPr/>
      <dgm:t>
        <a:bodyPr/>
        <a:lstStyle/>
        <a:p>
          <a:endParaRPr lang="en-US"/>
        </a:p>
      </dgm:t>
    </dgm:pt>
    <dgm:pt modelId="{4ACD4D5B-1C80-4BC5-B933-088AA47B369C}" type="sibTrans" cxnId="{E3FC0296-F5C9-4AD0-B1E8-D3ACB838686C}">
      <dgm:prSet/>
      <dgm:spPr/>
      <dgm:t>
        <a:bodyPr/>
        <a:lstStyle/>
        <a:p>
          <a:endParaRPr lang="en-US"/>
        </a:p>
      </dgm:t>
    </dgm:pt>
    <dgm:pt modelId="{98C54B8C-C800-4ED9-9BC9-6CD462C9CD9A}">
      <dgm:prSet/>
      <dgm:spPr/>
      <dgm:t>
        <a:bodyPr/>
        <a:lstStyle/>
        <a:p>
          <a:r>
            <a:rPr lang="en-US" b="1"/>
            <a:t>Development &amp; Design Tools</a:t>
          </a:r>
          <a:endParaRPr lang="en-US"/>
        </a:p>
      </dgm:t>
    </dgm:pt>
    <dgm:pt modelId="{3CF5E88C-0CD5-45E6-B841-C88778799F24}" type="parTrans" cxnId="{AB5259D1-082E-4AA6-BC92-06725BFAB063}">
      <dgm:prSet/>
      <dgm:spPr/>
      <dgm:t>
        <a:bodyPr/>
        <a:lstStyle/>
        <a:p>
          <a:endParaRPr lang="en-US"/>
        </a:p>
      </dgm:t>
    </dgm:pt>
    <dgm:pt modelId="{5BC8A93B-B779-4635-88BD-5CB44BD84396}" type="sibTrans" cxnId="{AB5259D1-082E-4AA6-BC92-06725BFAB063}">
      <dgm:prSet/>
      <dgm:spPr/>
      <dgm:t>
        <a:bodyPr/>
        <a:lstStyle/>
        <a:p>
          <a:endParaRPr lang="en-US"/>
        </a:p>
      </dgm:t>
    </dgm:pt>
    <dgm:pt modelId="{8C9C9980-9D18-4B48-AC8C-AD755A2EF5D4}">
      <dgm:prSet/>
      <dgm:spPr/>
      <dgm:t>
        <a:bodyPr/>
        <a:lstStyle/>
        <a:p>
          <a:r>
            <a:rPr lang="en-US"/>
            <a:t>Visual Studio Code</a:t>
          </a:r>
        </a:p>
      </dgm:t>
    </dgm:pt>
    <dgm:pt modelId="{B212DA96-90CB-40A3-96A8-56CB7200CFE5}" type="parTrans" cxnId="{59EACAC8-5C59-4B90-9EDA-9C5B5A433B02}">
      <dgm:prSet/>
      <dgm:spPr/>
      <dgm:t>
        <a:bodyPr/>
        <a:lstStyle/>
        <a:p>
          <a:endParaRPr lang="en-US"/>
        </a:p>
      </dgm:t>
    </dgm:pt>
    <dgm:pt modelId="{03533FB1-9CF1-4A02-8B67-DD673C976F8A}" type="sibTrans" cxnId="{59EACAC8-5C59-4B90-9EDA-9C5B5A433B02}">
      <dgm:prSet/>
      <dgm:spPr/>
      <dgm:t>
        <a:bodyPr/>
        <a:lstStyle/>
        <a:p>
          <a:endParaRPr lang="en-US"/>
        </a:p>
      </dgm:t>
    </dgm:pt>
    <dgm:pt modelId="{783EFA67-5794-4CAE-B71A-045A40BE1E91}">
      <dgm:prSet/>
      <dgm:spPr/>
      <dgm:t>
        <a:bodyPr/>
        <a:lstStyle/>
        <a:p>
          <a:r>
            <a:rPr lang="en-US"/>
            <a:t>Postman (API Testing)</a:t>
          </a:r>
        </a:p>
      </dgm:t>
    </dgm:pt>
    <dgm:pt modelId="{CD7435AA-56B4-42A9-BF53-EFFD04CC0FE8}" type="parTrans" cxnId="{4A843336-5DE0-4EC4-811F-56C3613BD3BC}">
      <dgm:prSet/>
      <dgm:spPr/>
      <dgm:t>
        <a:bodyPr/>
        <a:lstStyle/>
        <a:p>
          <a:endParaRPr lang="en-US"/>
        </a:p>
      </dgm:t>
    </dgm:pt>
    <dgm:pt modelId="{75320037-2CEC-4E68-8053-FEB9B9E60FB4}" type="sibTrans" cxnId="{4A843336-5DE0-4EC4-811F-56C3613BD3BC}">
      <dgm:prSet/>
      <dgm:spPr/>
      <dgm:t>
        <a:bodyPr/>
        <a:lstStyle/>
        <a:p>
          <a:endParaRPr lang="en-US"/>
        </a:p>
      </dgm:t>
    </dgm:pt>
    <dgm:pt modelId="{D1D9BAFF-F426-4633-B00F-0DEFEEC849E8}">
      <dgm:prSet/>
      <dgm:spPr/>
      <dgm:t>
        <a:bodyPr/>
        <a:lstStyle/>
        <a:p>
          <a:r>
            <a:rPr lang="en-US"/>
            <a:t>Git (Version Control)</a:t>
          </a:r>
        </a:p>
      </dgm:t>
    </dgm:pt>
    <dgm:pt modelId="{C7C3541F-3BD6-42BB-9301-136B131D2FD6}" type="parTrans" cxnId="{7A25EA1D-2707-4268-851C-F745766B0DB9}">
      <dgm:prSet/>
      <dgm:spPr/>
      <dgm:t>
        <a:bodyPr/>
        <a:lstStyle/>
        <a:p>
          <a:endParaRPr lang="en-US"/>
        </a:p>
      </dgm:t>
    </dgm:pt>
    <dgm:pt modelId="{3755FBBB-AF84-4041-9F6B-76FC6402B0BB}" type="sibTrans" cxnId="{7A25EA1D-2707-4268-851C-F745766B0DB9}">
      <dgm:prSet/>
      <dgm:spPr/>
      <dgm:t>
        <a:bodyPr/>
        <a:lstStyle/>
        <a:p>
          <a:endParaRPr lang="en-US"/>
        </a:p>
      </dgm:t>
    </dgm:pt>
    <dgm:pt modelId="{25638E17-CE77-4BBF-8902-BFE11FAB25B0}">
      <dgm:prSet/>
      <dgm:spPr/>
      <dgm:t>
        <a:bodyPr/>
        <a:lstStyle/>
        <a:p>
          <a:r>
            <a:rPr lang="en-US"/>
            <a:t>PlantUML / Draw.io (System Modeling)</a:t>
          </a:r>
        </a:p>
      </dgm:t>
    </dgm:pt>
    <dgm:pt modelId="{12AEAE2B-BBB4-4A85-9FA1-B2F4560A4D10}" type="parTrans" cxnId="{632BE196-5C9C-4C9B-9CFF-8A2794057B81}">
      <dgm:prSet/>
      <dgm:spPr/>
      <dgm:t>
        <a:bodyPr/>
        <a:lstStyle/>
        <a:p>
          <a:endParaRPr lang="en-US"/>
        </a:p>
      </dgm:t>
    </dgm:pt>
    <dgm:pt modelId="{E1A7E517-46F5-44EB-AED9-BCCB3716A792}" type="sibTrans" cxnId="{632BE196-5C9C-4C9B-9CFF-8A2794057B81}">
      <dgm:prSet/>
      <dgm:spPr/>
      <dgm:t>
        <a:bodyPr/>
        <a:lstStyle/>
        <a:p>
          <a:endParaRPr lang="en-US"/>
        </a:p>
      </dgm:t>
    </dgm:pt>
    <dgm:pt modelId="{A1F584CC-E5ED-4B8D-BC31-93BF3C73C5F6}" type="pres">
      <dgm:prSet presAssocID="{5D6550C3-EEC0-4845-B4A1-5540F453809B}" presName="Name0" presStyleCnt="0">
        <dgm:presLayoutVars>
          <dgm:dir/>
          <dgm:resizeHandles val="exact"/>
        </dgm:presLayoutVars>
      </dgm:prSet>
      <dgm:spPr/>
    </dgm:pt>
    <dgm:pt modelId="{43AC68EC-5B5D-46B5-885B-8DEC5713C8E0}" type="pres">
      <dgm:prSet presAssocID="{EF7AF9A3-703D-419C-9557-A097C1A36A32}" presName="node" presStyleLbl="node1" presStyleIdx="0" presStyleCnt="15">
        <dgm:presLayoutVars>
          <dgm:bulletEnabled val="1"/>
        </dgm:presLayoutVars>
      </dgm:prSet>
      <dgm:spPr/>
    </dgm:pt>
    <dgm:pt modelId="{640D5CBE-5A79-4CD0-B8D7-4EEFFABB9B3C}" type="pres">
      <dgm:prSet presAssocID="{47542F99-72E5-4914-A6C4-E4AACF4B16DF}" presName="sibTrans" presStyleLbl="sibTrans1D1" presStyleIdx="0" presStyleCnt="14"/>
      <dgm:spPr/>
    </dgm:pt>
    <dgm:pt modelId="{FB2D2A3A-EE1A-4B19-9421-8A8314654289}" type="pres">
      <dgm:prSet presAssocID="{47542F99-72E5-4914-A6C4-E4AACF4B16DF}" presName="connectorText" presStyleLbl="sibTrans1D1" presStyleIdx="0" presStyleCnt="14"/>
      <dgm:spPr/>
    </dgm:pt>
    <dgm:pt modelId="{4F9AFDDA-2F56-454C-BEB5-27BE7A4320D9}" type="pres">
      <dgm:prSet presAssocID="{E8F5130E-4FFF-451F-BB1B-5609C5375DA8}" presName="node" presStyleLbl="node1" presStyleIdx="1" presStyleCnt="15">
        <dgm:presLayoutVars>
          <dgm:bulletEnabled val="1"/>
        </dgm:presLayoutVars>
      </dgm:prSet>
      <dgm:spPr/>
    </dgm:pt>
    <dgm:pt modelId="{C5078882-66F5-4C3A-A0AC-3AD9E2410809}" type="pres">
      <dgm:prSet presAssocID="{CD2B2B20-8276-4F50-8CC3-C6F6DC47D852}" presName="sibTrans" presStyleLbl="sibTrans1D1" presStyleIdx="1" presStyleCnt="14"/>
      <dgm:spPr/>
    </dgm:pt>
    <dgm:pt modelId="{B9293F48-67C0-40F6-857C-7AD375C911C8}" type="pres">
      <dgm:prSet presAssocID="{CD2B2B20-8276-4F50-8CC3-C6F6DC47D852}" presName="connectorText" presStyleLbl="sibTrans1D1" presStyleIdx="1" presStyleCnt="14"/>
      <dgm:spPr/>
    </dgm:pt>
    <dgm:pt modelId="{ECC5E6A2-F24C-48C6-8403-FE0F57446C51}" type="pres">
      <dgm:prSet presAssocID="{E863F539-04EA-4B63-AAA6-D61AAE41B564}" presName="node" presStyleLbl="node1" presStyleIdx="2" presStyleCnt="15">
        <dgm:presLayoutVars>
          <dgm:bulletEnabled val="1"/>
        </dgm:presLayoutVars>
      </dgm:prSet>
      <dgm:spPr/>
    </dgm:pt>
    <dgm:pt modelId="{15F319A4-301A-4CBC-816F-5CB2ABEE90A8}" type="pres">
      <dgm:prSet presAssocID="{825B4B06-8324-41A2-8A36-A644C27DAE26}" presName="sibTrans" presStyleLbl="sibTrans1D1" presStyleIdx="2" presStyleCnt="14"/>
      <dgm:spPr/>
    </dgm:pt>
    <dgm:pt modelId="{52EFBCFF-A627-4BDF-A4F4-F5C15D52F242}" type="pres">
      <dgm:prSet presAssocID="{825B4B06-8324-41A2-8A36-A644C27DAE26}" presName="connectorText" presStyleLbl="sibTrans1D1" presStyleIdx="2" presStyleCnt="14"/>
      <dgm:spPr/>
    </dgm:pt>
    <dgm:pt modelId="{5419CCC9-3611-45F6-85D3-6228EF970207}" type="pres">
      <dgm:prSet presAssocID="{FA709653-6C00-435B-B610-F2CCDAC1643B}" presName="node" presStyleLbl="node1" presStyleIdx="3" presStyleCnt="15">
        <dgm:presLayoutVars>
          <dgm:bulletEnabled val="1"/>
        </dgm:presLayoutVars>
      </dgm:prSet>
      <dgm:spPr/>
    </dgm:pt>
    <dgm:pt modelId="{CA601F62-B2E6-4CFF-AF55-7FFC88DBF11A}" type="pres">
      <dgm:prSet presAssocID="{D860296C-31AD-4C0D-AD22-2E03BE8CFCE5}" presName="sibTrans" presStyleLbl="sibTrans1D1" presStyleIdx="3" presStyleCnt="14"/>
      <dgm:spPr/>
    </dgm:pt>
    <dgm:pt modelId="{E758C1AC-6F7D-4465-9055-C811B9671D4F}" type="pres">
      <dgm:prSet presAssocID="{D860296C-31AD-4C0D-AD22-2E03BE8CFCE5}" presName="connectorText" presStyleLbl="sibTrans1D1" presStyleIdx="3" presStyleCnt="14"/>
      <dgm:spPr/>
    </dgm:pt>
    <dgm:pt modelId="{E1618733-98C3-4917-A0B2-D3864281481D}" type="pres">
      <dgm:prSet presAssocID="{45FEF127-6D47-4384-B427-45A84FEFC9E6}" presName="node" presStyleLbl="node1" presStyleIdx="4" presStyleCnt="15">
        <dgm:presLayoutVars>
          <dgm:bulletEnabled val="1"/>
        </dgm:presLayoutVars>
      </dgm:prSet>
      <dgm:spPr/>
    </dgm:pt>
    <dgm:pt modelId="{D552275B-F07E-47F7-884B-020456E6369A}" type="pres">
      <dgm:prSet presAssocID="{991ABD50-66AD-4C7A-9E42-D667BE30CF11}" presName="sibTrans" presStyleLbl="sibTrans1D1" presStyleIdx="4" presStyleCnt="14"/>
      <dgm:spPr/>
    </dgm:pt>
    <dgm:pt modelId="{B80EB1F8-ED45-4BB7-B03E-BD821C30C54D}" type="pres">
      <dgm:prSet presAssocID="{991ABD50-66AD-4C7A-9E42-D667BE30CF11}" presName="connectorText" presStyleLbl="sibTrans1D1" presStyleIdx="4" presStyleCnt="14"/>
      <dgm:spPr/>
    </dgm:pt>
    <dgm:pt modelId="{8898BA64-796E-41F4-B76B-8E1B910AF379}" type="pres">
      <dgm:prSet presAssocID="{2BDFCEAC-6EF6-48A1-B22A-F3184479FA6C}" presName="node" presStyleLbl="node1" presStyleIdx="5" presStyleCnt="15">
        <dgm:presLayoutVars>
          <dgm:bulletEnabled val="1"/>
        </dgm:presLayoutVars>
      </dgm:prSet>
      <dgm:spPr/>
    </dgm:pt>
    <dgm:pt modelId="{44B3C5A7-795E-435F-AB1A-A7D1E8F5B96E}" type="pres">
      <dgm:prSet presAssocID="{C17641EE-1EF8-43C9-8F5D-AF334027DC32}" presName="sibTrans" presStyleLbl="sibTrans1D1" presStyleIdx="5" presStyleCnt="14"/>
      <dgm:spPr/>
    </dgm:pt>
    <dgm:pt modelId="{F6A70E50-6699-4788-92AD-3086CF3DA933}" type="pres">
      <dgm:prSet presAssocID="{C17641EE-1EF8-43C9-8F5D-AF334027DC32}" presName="connectorText" presStyleLbl="sibTrans1D1" presStyleIdx="5" presStyleCnt="14"/>
      <dgm:spPr/>
    </dgm:pt>
    <dgm:pt modelId="{A33E41D0-75B6-436C-9042-812594CFB51C}" type="pres">
      <dgm:prSet presAssocID="{9EFDD1A5-8721-40DC-8E57-F43B770D11B1}" presName="node" presStyleLbl="node1" presStyleIdx="6" presStyleCnt="15">
        <dgm:presLayoutVars>
          <dgm:bulletEnabled val="1"/>
        </dgm:presLayoutVars>
      </dgm:prSet>
      <dgm:spPr/>
    </dgm:pt>
    <dgm:pt modelId="{5A62F8C9-0BD3-4DA3-AB10-363273BCC31C}" type="pres">
      <dgm:prSet presAssocID="{23CEB32A-EBF1-43D7-9703-B6840798D052}" presName="sibTrans" presStyleLbl="sibTrans1D1" presStyleIdx="6" presStyleCnt="14"/>
      <dgm:spPr/>
    </dgm:pt>
    <dgm:pt modelId="{8E3C2E54-90F0-4A14-AA09-23C6E06DF806}" type="pres">
      <dgm:prSet presAssocID="{23CEB32A-EBF1-43D7-9703-B6840798D052}" presName="connectorText" presStyleLbl="sibTrans1D1" presStyleIdx="6" presStyleCnt="14"/>
      <dgm:spPr/>
    </dgm:pt>
    <dgm:pt modelId="{11652459-5633-4EBC-BBF6-C65B5BA30058}" type="pres">
      <dgm:prSet presAssocID="{C2C57513-842A-4359-9EE7-883F030A1435}" presName="node" presStyleLbl="node1" presStyleIdx="7" presStyleCnt="15">
        <dgm:presLayoutVars>
          <dgm:bulletEnabled val="1"/>
        </dgm:presLayoutVars>
      </dgm:prSet>
      <dgm:spPr/>
    </dgm:pt>
    <dgm:pt modelId="{E037F3C5-98D4-4F51-B2FD-50CBA2B384C8}" type="pres">
      <dgm:prSet presAssocID="{35F11446-556F-4D7A-BAB3-7FF76367F6D7}" presName="sibTrans" presStyleLbl="sibTrans1D1" presStyleIdx="7" presStyleCnt="14"/>
      <dgm:spPr/>
    </dgm:pt>
    <dgm:pt modelId="{2D00C2F5-97C6-4A49-8F18-9907CFA0198F}" type="pres">
      <dgm:prSet presAssocID="{35F11446-556F-4D7A-BAB3-7FF76367F6D7}" presName="connectorText" presStyleLbl="sibTrans1D1" presStyleIdx="7" presStyleCnt="14"/>
      <dgm:spPr/>
    </dgm:pt>
    <dgm:pt modelId="{DE2EDE00-9CE4-47BF-9569-140E397DDC49}" type="pres">
      <dgm:prSet presAssocID="{7AF604B7-70DB-4F7A-81CF-C680E64E2ED0}" presName="node" presStyleLbl="node1" presStyleIdx="8" presStyleCnt="15">
        <dgm:presLayoutVars>
          <dgm:bulletEnabled val="1"/>
        </dgm:presLayoutVars>
      </dgm:prSet>
      <dgm:spPr/>
    </dgm:pt>
    <dgm:pt modelId="{24F6B819-4E12-4EFD-A31D-62CC6A7E8A40}" type="pres">
      <dgm:prSet presAssocID="{0AF2AD77-1C00-49DB-BB7C-2EB8B36E659F}" presName="sibTrans" presStyleLbl="sibTrans1D1" presStyleIdx="8" presStyleCnt="14"/>
      <dgm:spPr/>
    </dgm:pt>
    <dgm:pt modelId="{67F89EE6-012C-48EF-A7F5-18764AC23D0E}" type="pres">
      <dgm:prSet presAssocID="{0AF2AD77-1C00-49DB-BB7C-2EB8B36E659F}" presName="connectorText" presStyleLbl="sibTrans1D1" presStyleIdx="8" presStyleCnt="14"/>
      <dgm:spPr/>
    </dgm:pt>
    <dgm:pt modelId="{85B7346B-3476-404A-83A5-1E8CB1E2EE0F}" type="pres">
      <dgm:prSet presAssocID="{060E6877-4435-4859-8776-3297810E27E8}" presName="node" presStyleLbl="node1" presStyleIdx="9" presStyleCnt="15">
        <dgm:presLayoutVars>
          <dgm:bulletEnabled val="1"/>
        </dgm:presLayoutVars>
      </dgm:prSet>
      <dgm:spPr/>
    </dgm:pt>
    <dgm:pt modelId="{EC02887A-72FB-4825-91ED-C5EAAD59486D}" type="pres">
      <dgm:prSet presAssocID="{4ACD4D5B-1C80-4BC5-B933-088AA47B369C}" presName="sibTrans" presStyleLbl="sibTrans1D1" presStyleIdx="9" presStyleCnt="14"/>
      <dgm:spPr/>
    </dgm:pt>
    <dgm:pt modelId="{FFAAC48C-103D-4E99-9BF2-5C1FE6A2200D}" type="pres">
      <dgm:prSet presAssocID="{4ACD4D5B-1C80-4BC5-B933-088AA47B369C}" presName="connectorText" presStyleLbl="sibTrans1D1" presStyleIdx="9" presStyleCnt="14"/>
      <dgm:spPr/>
    </dgm:pt>
    <dgm:pt modelId="{81F29889-7563-46B7-8122-4E1730DD3CEB}" type="pres">
      <dgm:prSet presAssocID="{98C54B8C-C800-4ED9-9BC9-6CD462C9CD9A}" presName="node" presStyleLbl="node1" presStyleIdx="10" presStyleCnt="15">
        <dgm:presLayoutVars>
          <dgm:bulletEnabled val="1"/>
        </dgm:presLayoutVars>
      </dgm:prSet>
      <dgm:spPr/>
    </dgm:pt>
    <dgm:pt modelId="{5A1076D2-048D-4BC6-931B-2A74A102E008}" type="pres">
      <dgm:prSet presAssocID="{5BC8A93B-B779-4635-88BD-5CB44BD84396}" presName="sibTrans" presStyleLbl="sibTrans1D1" presStyleIdx="10" presStyleCnt="14"/>
      <dgm:spPr/>
    </dgm:pt>
    <dgm:pt modelId="{358AC810-1D69-405A-A52A-42B833703599}" type="pres">
      <dgm:prSet presAssocID="{5BC8A93B-B779-4635-88BD-5CB44BD84396}" presName="connectorText" presStyleLbl="sibTrans1D1" presStyleIdx="10" presStyleCnt="14"/>
      <dgm:spPr/>
    </dgm:pt>
    <dgm:pt modelId="{E8E28EAF-3605-495D-95DE-9E5597E4F544}" type="pres">
      <dgm:prSet presAssocID="{8C9C9980-9D18-4B48-AC8C-AD755A2EF5D4}" presName="node" presStyleLbl="node1" presStyleIdx="11" presStyleCnt="15">
        <dgm:presLayoutVars>
          <dgm:bulletEnabled val="1"/>
        </dgm:presLayoutVars>
      </dgm:prSet>
      <dgm:spPr/>
    </dgm:pt>
    <dgm:pt modelId="{3B8726C3-F239-474E-9C86-C7D3EFB1A7A5}" type="pres">
      <dgm:prSet presAssocID="{03533FB1-9CF1-4A02-8B67-DD673C976F8A}" presName="sibTrans" presStyleLbl="sibTrans1D1" presStyleIdx="11" presStyleCnt="14"/>
      <dgm:spPr/>
    </dgm:pt>
    <dgm:pt modelId="{FC99410A-78D5-4F41-B8CB-D5F0C30A6142}" type="pres">
      <dgm:prSet presAssocID="{03533FB1-9CF1-4A02-8B67-DD673C976F8A}" presName="connectorText" presStyleLbl="sibTrans1D1" presStyleIdx="11" presStyleCnt="14"/>
      <dgm:spPr/>
    </dgm:pt>
    <dgm:pt modelId="{E5F4D131-2858-43FF-8EE8-DD544C4ABC4B}" type="pres">
      <dgm:prSet presAssocID="{783EFA67-5794-4CAE-B71A-045A40BE1E91}" presName="node" presStyleLbl="node1" presStyleIdx="12" presStyleCnt="15">
        <dgm:presLayoutVars>
          <dgm:bulletEnabled val="1"/>
        </dgm:presLayoutVars>
      </dgm:prSet>
      <dgm:spPr/>
    </dgm:pt>
    <dgm:pt modelId="{1F7659A8-A9EC-49BD-AF1A-E29637D77F8D}" type="pres">
      <dgm:prSet presAssocID="{75320037-2CEC-4E68-8053-FEB9B9E60FB4}" presName="sibTrans" presStyleLbl="sibTrans1D1" presStyleIdx="12" presStyleCnt="14"/>
      <dgm:spPr/>
    </dgm:pt>
    <dgm:pt modelId="{1E31F4E6-98BA-496C-B572-82DF8F9AD5BB}" type="pres">
      <dgm:prSet presAssocID="{75320037-2CEC-4E68-8053-FEB9B9E60FB4}" presName="connectorText" presStyleLbl="sibTrans1D1" presStyleIdx="12" presStyleCnt="14"/>
      <dgm:spPr/>
    </dgm:pt>
    <dgm:pt modelId="{B3CB8B89-CA8E-4F9A-9DCE-90E90BC306FA}" type="pres">
      <dgm:prSet presAssocID="{D1D9BAFF-F426-4633-B00F-0DEFEEC849E8}" presName="node" presStyleLbl="node1" presStyleIdx="13" presStyleCnt="15">
        <dgm:presLayoutVars>
          <dgm:bulletEnabled val="1"/>
        </dgm:presLayoutVars>
      </dgm:prSet>
      <dgm:spPr/>
    </dgm:pt>
    <dgm:pt modelId="{569CF42D-9687-48BE-A0E0-1B200338F5C0}" type="pres">
      <dgm:prSet presAssocID="{3755FBBB-AF84-4041-9F6B-76FC6402B0BB}" presName="sibTrans" presStyleLbl="sibTrans1D1" presStyleIdx="13" presStyleCnt="14"/>
      <dgm:spPr/>
    </dgm:pt>
    <dgm:pt modelId="{8FFD1712-A58E-4FA7-A02F-998B108B2CD0}" type="pres">
      <dgm:prSet presAssocID="{3755FBBB-AF84-4041-9F6B-76FC6402B0BB}" presName="connectorText" presStyleLbl="sibTrans1D1" presStyleIdx="13" presStyleCnt="14"/>
      <dgm:spPr/>
    </dgm:pt>
    <dgm:pt modelId="{8F764425-B08A-43D4-8673-ACDCC5846A9F}" type="pres">
      <dgm:prSet presAssocID="{25638E17-CE77-4BBF-8902-BFE11FAB25B0}" presName="node" presStyleLbl="node1" presStyleIdx="14" presStyleCnt="15">
        <dgm:presLayoutVars>
          <dgm:bulletEnabled val="1"/>
        </dgm:presLayoutVars>
      </dgm:prSet>
      <dgm:spPr/>
    </dgm:pt>
  </dgm:ptLst>
  <dgm:cxnLst>
    <dgm:cxn modelId="{EDE1E01B-79F3-4366-942A-94F98954FEBC}" type="presOf" srcId="{991ABD50-66AD-4C7A-9E42-D667BE30CF11}" destId="{D552275B-F07E-47F7-884B-020456E6369A}" srcOrd="0" destOrd="0" presId="urn:microsoft.com/office/officeart/2016/7/layout/RepeatingBendingProcessNew"/>
    <dgm:cxn modelId="{6775BC1C-D3A3-4A7E-8340-97B87FB93C27}" srcId="{5D6550C3-EEC0-4845-B4A1-5540F453809B}" destId="{C2C57513-842A-4359-9EE7-883F030A1435}" srcOrd="7" destOrd="0" parTransId="{08EA3EFD-A3F5-42ED-844C-9051D5BC8F74}" sibTransId="{35F11446-556F-4D7A-BAB3-7FF76367F6D7}"/>
    <dgm:cxn modelId="{7A25EA1D-2707-4268-851C-F745766B0DB9}" srcId="{5D6550C3-EEC0-4845-B4A1-5540F453809B}" destId="{D1D9BAFF-F426-4633-B00F-0DEFEEC849E8}" srcOrd="13" destOrd="0" parTransId="{C7C3541F-3BD6-42BB-9301-136B131D2FD6}" sibTransId="{3755FBBB-AF84-4041-9F6B-76FC6402B0BB}"/>
    <dgm:cxn modelId="{76D59B21-2247-419E-A741-1F9F8A64A78C}" type="presOf" srcId="{C17641EE-1EF8-43C9-8F5D-AF334027DC32}" destId="{F6A70E50-6699-4788-92AD-3086CF3DA933}" srcOrd="1" destOrd="0" presId="urn:microsoft.com/office/officeart/2016/7/layout/RepeatingBendingProcessNew"/>
    <dgm:cxn modelId="{41E16E29-4D22-415B-BF7E-B8E3C32EC855}" type="presOf" srcId="{C17641EE-1EF8-43C9-8F5D-AF334027DC32}" destId="{44B3C5A7-795E-435F-AB1A-A7D1E8F5B96E}" srcOrd="0" destOrd="0" presId="urn:microsoft.com/office/officeart/2016/7/layout/RepeatingBendingProcessNew"/>
    <dgm:cxn modelId="{85080631-5A1C-45FC-AE1A-DFB3D9838B1A}" type="presOf" srcId="{2BDFCEAC-6EF6-48A1-B22A-F3184479FA6C}" destId="{8898BA64-796E-41F4-B76B-8E1B910AF379}" srcOrd="0" destOrd="0" presId="urn:microsoft.com/office/officeart/2016/7/layout/RepeatingBendingProcessNew"/>
    <dgm:cxn modelId="{F3D83C31-DE13-4F88-90F3-A39131F4CF3E}" srcId="{5D6550C3-EEC0-4845-B4A1-5540F453809B}" destId="{9EFDD1A5-8721-40DC-8E57-F43B770D11B1}" srcOrd="6" destOrd="0" parTransId="{54154594-8E22-4875-80F1-967AFBDD0872}" sibTransId="{23CEB32A-EBF1-43D7-9703-B6840798D052}"/>
    <dgm:cxn modelId="{4A843336-5DE0-4EC4-811F-56C3613BD3BC}" srcId="{5D6550C3-EEC0-4845-B4A1-5540F453809B}" destId="{783EFA67-5794-4CAE-B71A-045A40BE1E91}" srcOrd="12" destOrd="0" parTransId="{CD7435AA-56B4-42A9-BF53-EFFD04CC0FE8}" sibTransId="{75320037-2CEC-4E68-8053-FEB9B9E60FB4}"/>
    <dgm:cxn modelId="{E0216D37-6BEB-4B0A-8FC2-0F463DFA5FD7}" type="presOf" srcId="{45FEF127-6D47-4384-B427-45A84FEFC9E6}" destId="{E1618733-98C3-4917-A0B2-D3864281481D}" srcOrd="0" destOrd="0" presId="urn:microsoft.com/office/officeart/2016/7/layout/RepeatingBendingProcessNew"/>
    <dgm:cxn modelId="{077FA45B-6541-4E1E-A5EC-B84C9DF9584A}" type="presOf" srcId="{5D6550C3-EEC0-4845-B4A1-5540F453809B}" destId="{A1F584CC-E5ED-4B8D-BC31-93BF3C73C5F6}" srcOrd="0" destOrd="0" presId="urn:microsoft.com/office/officeart/2016/7/layout/RepeatingBendingProcessNew"/>
    <dgm:cxn modelId="{669EB245-B0AE-4053-83C4-AD7A1D36E157}" srcId="{5D6550C3-EEC0-4845-B4A1-5540F453809B}" destId="{E863F539-04EA-4B63-AAA6-D61AAE41B564}" srcOrd="2" destOrd="0" parTransId="{17C71BF2-B612-4231-9A62-3B6834CC1FFA}" sibTransId="{825B4B06-8324-41A2-8A36-A644C27DAE26}"/>
    <dgm:cxn modelId="{3E665268-AF99-4EE9-868A-32CD0F04675F}" type="presOf" srcId="{C2C57513-842A-4359-9EE7-883F030A1435}" destId="{11652459-5633-4EBC-BBF6-C65B5BA30058}" srcOrd="0" destOrd="0" presId="urn:microsoft.com/office/officeart/2016/7/layout/RepeatingBendingProcessNew"/>
    <dgm:cxn modelId="{AA0EBD69-03AC-496B-89B2-2847815BB984}" type="presOf" srcId="{47542F99-72E5-4914-A6C4-E4AACF4B16DF}" destId="{FB2D2A3A-EE1A-4B19-9421-8A8314654289}" srcOrd="1" destOrd="0" presId="urn:microsoft.com/office/officeart/2016/7/layout/RepeatingBendingProcessNew"/>
    <dgm:cxn modelId="{A543766B-299F-4854-998A-C5762DDCD6AF}" type="presOf" srcId="{47542F99-72E5-4914-A6C4-E4AACF4B16DF}" destId="{640D5CBE-5A79-4CD0-B8D7-4EEFFABB9B3C}" srcOrd="0" destOrd="0" presId="urn:microsoft.com/office/officeart/2016/7/layout/RepeatingBendingProcessNew"/>
    <dgm:cxn modelId="{67F21B50-0780-4A72-9824-04234791E18E}" type="presOf" srcId="{EF7AF9A3-703D-419C-9557-A097C1A36A32}" destId="{43AC68EC-5B5D-46B5-885B-8DEC5713C8E0}" srcOrd="0" destOrd="0" presId="urn:microsoft.com/office/officeart/2016/7/layout/RepeatingBendingProcessNew"/>
    <dgm:cxn modelId="{2CCC5A71-6181-4393-AD7E-86B904007A45}" srcId="{5D6550C3-EEC0-4845-B4A1-5540F453809B}" destId="{E8F5130E-4FFF-451F-BB1B-5609C5375DA8}" srcOrd="1" destOrd="0" parTransId="{E9F3D9CB-D2BB-4A4F-972F-CAC80C868511}" sibTransId="{CD2B2B20-8276-4F50-8CC3-C6F6DC47D852}"/>
    <dgm:cxn modelId="{AF0C2F53-BD42-4E2C-99B4-8E380714015D}" type="presOf" srcId="{4ACD4D5B-1C80-4BC5-B933-088AA47B369C}" destId="{FFAAC48C-103D-4E99-9BF2-5C1FE6A2200D}" srcOrd="1" destOrd="0" presId="urn:microsoft.com/office/officeart/2016/7/layout/RepeatingBendingProcessNew"/>
    <dgm:cxn modelId="{47BC3C54-D3C2-43A3-B345-0BB08872EC63}" srcId="{5D6550C3-EEC0-4845-B4A1-5540F453809B}" destId="{EF7AF9A3-703D-419C-9557-A097C1A36A32}" srcOrd="0" destOrd="0" parTransId="{A5921C91-200F-4B34-97B5-143F62584C15}" sibTransId="{47542F99-72E5-4914-A6C4-E4AACF4B16DF}"/>
    <dgm:cxn modelId="{C0E47C75-CFA6-461B-BC98-3EEA624D0495}" srcId="{5D6550C3-EEC0-4845-B4A1-5540F453809B}" destId="{FA709653-6C00-435B-B610-F2CCDAC1643B}" srcOrd="3" destOrd="0" parTransId="{66A691B0-F73B-4E9C-89B3-742F33EABADC}" sibTransId="{D860296C-31AD-4C0D-AD22-2E03BE8CFCE5}"/>
    <dgm:cxn modelId="{92CE0877-6881-4BFC-B70A-AA3C2A91C904}" type="presOf" srcId="{CD2B2B20-8276-4F50-8CC3-C6F6DC47D852}" destId="{B9293F48-67C0-40F6-857C-7AD375C911C8}" srcOrd="1" destOrd="0" presId="urn:microsoft.com/office/officeart/2016/7/layout/RepeatingBendingProcessNew"/>
    <dgm:cxn modelId="{D6C86B77-56C6-4F9E-997B-7C60D354B63B}" type="presOf" srcId="{75320037-2CEC-4E68-8053-FEB9B9E60FB4}" destId="{1E31F4E6-98BA-496C-B572-82DF8F9AD5BB}" srcOrd="1" destOrd="0" presId="urn:microsoft.com/office/officeart/2016/7/layout/RepeatingBendingProcessNew"/>
    <dgm:cxn modelId="{C8366179-28A8-461B-9603-3D38A0B45096}" type="presOf" srcId="{991ABD50-66AD-4C7A-9E42-D667BE30CF11}" destId="{B80EB1F8-ED45-4BB7-B03E-BD821C30C54D}" srcOrd="1" destOrd="0" presId="urn:microsoft.com/office/officeart/2016/7/layout/RepeatingBendingProcessNew"/>
    <dgm:cxn modelId="{90AFC17F-D2C6-4E94-BF53-AA4578957454}" type="presOf" srcId="{98C54B8C-C800-4ED9-9BC9-6CD462C9CD9A}" destId="{81F29889-7563-46B7-8122-4E1730DD3CEB}" srcOrd="0" destOrd="0" presId="urn:microsoft.com/office/officeart/2016/7/layout/RepeatingBendingProcessNew"/>
    <dgm:cxn modelId="{83F99991-F8B5-4102-B9C3-9EC3B95EC25E}" type="presOf" srcId="{CD2B2B20-8276-4F50-8CC3-C6F6DC47D852}" destId="{C5078882-66F5-4C3A-A0AC-3AD9E2410809}" srcOrd="0" destOrd="0" presId="urn:microsoft.com/office/officeart/2016/7/layout/RepeatingBendingProcessNew"/>
    <dgm:cxn modelId="{E3FC0296-F5C9-4AD0-B1E8-D3ACB838686C}" srcId="{5D6550C3-EEC0-4845-B4A1-5540F453809B}" destId="{060E6877-4435-4859-8776-3297810E27E8}" srcOrd="9" destOrd="0" parTransId="{4EF94270-2F73-43F1-89C5-CD447808F268}" sibTransId="{4ACD4D5B-1C80-4BC5-B933-088AA47B369C}"/>
    <dgm:cxn modelId="{8AF56496-22DB-44BD-BF57-97142D064BFC}" type="presOf" srcId="{FA709653-6C00-435B-B610-F2CCDAC1643B}" destId="{5419CCC9-3611-45F6-85D3-6228EF970207}" srcOrd="0" destOrd="0" presId="urn:microsoft.com/office/officeart/2016/7/layout/RepeatingBendingProcessNew"/>
    <dgm:cxn modelId="{632BE196-5C9C-4C9B-9CFF-8A2794057B81}" srcId="{5D6550C3-EEC0-4845-B4A1-5540F453809B}" destId="{25638E17-CE77-4BBF-8902-BFE11FAB25B0}" srcOrd="14" destOrd="0" parTransId="{12AEAE2B-BBB4-4A85-9FA1-B2F4560A4D10}" sibTransId="{E1A7E517-46F5-44EB-AED9-BCCB3716A792}"/>
    <dgm:cxn modelId="{CCA8DB9B-349C-4907-9B94-A559D17B237E}" type="presOf" srcId="{03533FB1-9CF1-4A02-8B67-DD673C976F8A}" destId="{FC99410A-78D5-4F41-B8CB-D5F0C30A6142}" srcOrd="1" destOrd="0" presId="urn:microsoft.com/office/officeart/2016/7/layout/RepeatingBendingProcessNew"/>
    <dgm:cxn modelId="{596812A1-8A1B-4A34-8080-373CE7AE5CAA}" type="presOf" srcId="{9EFDD1A5-8721-40DC-8E57-F43B770D11B1}" destId="{A33E41D0-75B6-436C-9042-812594CFB51C}" srcOrd="0" destOrd="0" presId="urn:microsoft.com/office/officeart/2016/7/layout/RepeatingBendingProcessNew"/>
    <dgm:cxn modelId="{BEC2E5A4-37E2-4EC9-8A40-D7B14BE0CCAB}" type="presOf" srcId="{7AF604B7-70DB-4F7A-81CF-C680E64E2ED0}" destId="{DE2EDE00-9CE4-47BF-9569-140E397DDC49}" srcOrd="0" destOrd="0" presId="urn:microsoft.com/office/officeart/2016/7/layout/RepeatingBendingProcessNew"/>
    <dgm:cxn modelId="{635113A9-EB66-49C6-A972-2BAD7B6DB7B2}" type="presOf" srcId="{23CEB32A-EBF1-43D7-9703-B6840798D052}" destId="{5A62F8C9-0BD3-4DA3-AB10-363273BCC31C}" srcOrd="0" destOrd="0" presId="urn:microsoft.com/office/officeart/2016/7/layout/RepeatingBendingProcessNew"/>
    <dgm:cxn modelId="{928F8BA9-9009-4517-A2E5-BC49478A7D0E}" type="presOf" srcId="{8C9C9980-9D18-4B48-AC8C-AD755A2EF5D4}" destId="{E8E28EAF-3605-495D-95DE-9E5597E4F544}" srcOrd="0" destOrd="0" presId="urn:microsoft.com/office/officeart/2016/7/layout/RepeatingBendingProcessNew"/>
    <dgm:cxn modelId="{E1B999AC-8FCE-4A50-81AE-88A6769E3217}" type="presOf" srcId="{75320037-2CEC-4E68-8053-FEB9B9E60FB4}" destId="{1F7659A8-A9EC-49BD-AF1A-E29637D77F8D}" srcOrd="0" destOrd="0" presId="urn:microsoft.com/office/officeart/2016/7/layout/RepeatingBendingProcessNew"/>
    <dgm:cxn modelId="{55B375AF-8315-4E06-AC33-B1371964BD84}" type="presOf" srcId="{783EFA67-5794-4CAE-B71A-045A40BE1E91}" destId="{E5F4D131-2858-43FF-8EE8-DD544C4ABC4B}" srcOrd="0" destOrd="0" presId="urn:microsoft.com/office/officeart/2016/7/layout/RepeatingBendingProcessNew"/>
    <dgm:cxn modelId="{130FFCB1-801B-4C08-A2DC-06D6AD1A3137}" type="presOf" srcId="{35F11446-556F-4D7A-BAB3-7FF76367F6D7}" destId="{2D00C2F5-97C6-4A49-8F18-9907CFA0198F}" srcOrd="1" destOrd="0" presId="urn:microsoft.com/office/officeart/2016/7/layout/RepeatingBendingProcessNew"/>
    <dgm:cxn modelId="{E158BAB2-5BB0-46C1-BA71-5EA984070B6E}" type="presOf" srcId="{E8F5130E-4FFF-451F-BB1B-5609C5375DA8}" destId="{4F9AFDDA-2F56-454C-BEB5-27BE7A4320D9}" srcOrd="0" destOrd="0" presId="urn:microsoft.com/office/officeart/2016/7/layout/RepeatingBendingProcessNew"/>
    <dgm:cxn modelId="{301730BB-5DE4-41DD-964C-1E7182A3A6E6}" type="presOf" srcId="{060E6877-4435-4859-8776-3297810E27E8}" destId="{85B7346B-3476-404A-83A5-1E8CB1E2EE0F}" srcOrd="0" destOrd="0" presId="urn:microsoft.com/office/officeart/2016/7/layout/RepeatingBendingProcessNew"/>
    <dgm:cxn modelId="{F0D1C5C2-ABDF-42E3-BF72-0582EBB4CE45}" type="presOf" srcId="{0AF2AD77-1C00-49DB-BB7C-2EB8B36E659F}" destId="{67F89EE6-012C-48EF-A7F5-18764AC23D0E}" srcOrd="1" destOrd="0" presId="urn:microsoft.com/office/officeart/2016/7/layout/RepeatingBendingProcessNew"/>
    <dgm:cxn modelId="{616968C4-3BB9-434D-B434-942AA143C8FA}" type="presOf" srcId="{03533FB1-9CF1-4A02-8B67-DD673C976F8A}" destId="{3B8726C3-F239-474E-9C86-C7D3EFB1A7A5}" srcOrd="0" destOrd="0" presId="urn:microsoft.com/office/officeart/2016/7/layout/RepeatingBendingProcessNew"/>
    <dgm:cxn modelId="{59EACAC8-5C59-4B90-9EDA-9C5B5A433B02}" srcId="{5D6550C3-EEC0-4845-B4A1-5540F453809B}" destId="{8C9C9980-9D18-4B48-AC8C-AD755A2EF5D4}" srcOrd="11" destOrd="0" parTransId="{B212DA96-90CB-40A3-96A8-56CB7200CFE5}" sibTransId="{03533FB1-9CF1-4A02-8B67-DD673C976F8A}"/>
    <dgm:cxn modelId="{9FB05ACE-F1AA-4C7C-AC8E-8C43F8B9D412}" type="presOf" srcId="{23CEB32A-EBF1-43D7-9703-B6840798D052}" destId="{8E3C2E54-90F0-4A14-AA09-23C6E06DF806}" srcOrd="1" destOrd="0" presId="urn:microsoft.com/office/officeart/2016/7/layout/RepeatingBendingProcessNew"/>
    <dgm:cxn modelId="{8BBE32D0-47CB-4596-8A3F-D3F8434DD336}" srcId="{5D6550C3-EEC0-4845-B4A1-5540F453809B}" destId="{2BDFCEAC-6EF6-48A1-B22A-F3184479FA6C}" srcOrd="5" destOrd="0" parTransId="{C630DCD2-BD10-46BF-B255-F0EA10002FE9}" sibTransId="{C17641EE-1EF8-43C9-8F5D-AF334027DC32}"/>
    <dgm:cxn modelId="{AB5259D1-082E-4AA6-BC92-06725BFAB063}" srcId="{5D6550C3-EEC0-4845-B4A1-5540F453809B}" destId="{98C54B8C-C800-4ED9-9BC9-6CD462C9CD9A}" srcOrd="10" destOrd="0" parTransId="{3CF5E88C-0CD5-45E6-B841-C88778799F24}" sibTransId="{5BC8A93B-B779-4635-88BD-5CB44BD84396}"/>
    <dgm:cxn modelId="{6FCFDAD3-7676-43AA-B902-DED1839D5C08}" type="presOf" srcId="{D860296C-31AD-4C0D-AD22-2E03BE8CFCE5}" destId="{CA601F62-B2E6-4CFF-AF55-7FFC88DBF11A}" srcOrd="0" destOrd="0" presId="urn:microsoft.com/office/officeart/2016/7/layout/RepeatingBendingProcessNew"/>
    <dgm:cxn modelId="{C8D5BFD5-89FF-4761-ACC8-EB8BAADB0894}" type="presOf" srcId="{35F11446-556F-4D7A-BAB3-7FF76367F6D7}" destId="{E037F3C5-98D4-4F51-B2FD-50CBA2B384C8}" srcOrd="0" destOrd="0" presId="urn:microsoft.com/office/officeart/2016/7/layout/RepeatingBendingProcessNew"/>
    <dgm:cxn modelId="{7D725AD9-F493-4DF4-92EE-1183D0046671}" type="presOf" srcId="{3755FBBB-AF84-4041-9F6B-76FC6402B0BB}" destId="{569CF42D-9687-48BE-A0E0-1B200338F5C0}" srcOrd="0" destOrd="0" presId="urn:microsoft.com/office/officeart/2016/7/layout/RepeatingBendingProcessNew"/>
    <dgm:cxn modelId="{DF6D89DC-1355-4055-B9E2-CBDB41A33BF6}" type="presOf" srcId="{D1D9BAFF-F426-4633-B00F-0DEFEEC849E8}" destId="{B3CB8B89-CA8E-4F9A-9DCE-90E90BC306FA}" srcOrd="0" destOrd="0" presId="urn:microsoft.com/office/officeart/2016/7/layout/RepeatingBendingProcessNew"/>
    <dgm:cxn modelId="{756955DE-B702-4E99-A74F-363973DE742B}" type="presOf" srcId="{3755FBBB-AF84-4041-9F6B-76FC6402B0BB}" destId="{8FFD1712-A58E-4FA7-A02F-998B108B2CD0}" srcOrd="1" destOrd="0" presId="urn:microsoft.com/office/officeart/2016/7/layout/RepeatingBendingProcessNew"/>
    <dgm:cxn modelId="{1B25C0E0-BF2E-481B-B158-6F8626CDBA66}" type="presOf" srcId="{825B4B06-8324-41A2-8A36-A644C27DAE26}" destId="{15F319A4-301A-4CBC-816F-5CB2ABEE90A8}" srcOrd="0" destOrd="0" presId="urn:microsoft.com/office/officeart/2016/7/layout/RepeatingBendingProcessNew"/>
    <dgm:cxn modelId="{B07711E4-D0A1-44F1-A26F-7CDC92FADFE8}" type="presOf" srcId="{D860296C-31AD-4C0D-AD22-2E03BE8CFCE5}" destId="{E758C1AC-6F7D-4465-9055-C811B9671D4F}" srcOrd="1" destOrd="0" presId="urn:microsoft.com/office/officeart/2016/7/layout/RepeatingBendingProcessNew"/>
    <dgm:cxn modelId="{99010DE8-DA19-4C2D-8760-B55A0D633DEE}" type="presOf" srcId="{E863F539-04EA-4B63-AAA6-D61AAE41B564}" destId="{ECC5E6A2-F24C-48C6-8403-FE0F57446C51}" srcOrd="0" destOrd="0" presId="urn:microsoft.com/office/officeart/2016/7/layout/RepeatingBendingProcessNew"/>
    <dgm:cxn modelId="{6A2983EA-1481-4C3B-9304-F9BC62FF6F61}" type="presOf" srcId="{5BC8A93B-B779-4635-88BD-5CB44BD84396}" destId="{358AC810-1D69-405A-A52A-42B833703599}" srcOrd="1" destOrd="0" presId="urn:microsoft.com/office/officeart/2016/7/layout/RepeatingBendingProcessNew"/>
    <dgm:cxn modelId="{D82B5AEB-5156-4F67-B491-D88E75CC00BD}" srcId="{5D6550C3-EEC0-4845-B4A1-5540F453809B}" destId="{45FEF127-6D47-4384-B427-45A84FEFC9E6}" srcOrd="4" destOrd="0" parTransId="{7EA768D4-2EEB-4BEF-ACFF-B7BFA2F8FC12}" sibTransId="{991ABD50-66AD-4C7A-9E42-D667BE30CF11}"/>
    <dgm:cxn modelId="{B2DA5BF0-C897-461B-BF7B-A390A2A82B7C}" type="presOf" srcId="{5BC8A93B-B779-4635-88BD-5CB44BD84396}" destId="{5A1076D2-048D-4BC6-931B-2A74A102E008}" srcOrd="0" destOrd="0" presId="urn:microsoft.com/office/officeart/2016/7/layout/RepeatingBendingProcessNew"/>
    <dgm:cxn modelId="{377FE7F2-042D-49A9-B0FE-EF98DC6F3D35}" type="presOf" srcId="{25638E17-CE77-4BBF-8902-BFE11FAB25B0}" destId="{8F764425-B08A-43D4-8673-ACDCC5846A9F}" srcOrd="0" destOrd="0" presId="urn:microsoft.com/office/officeart/2016/7/layout/RepeatingBendingProcessNew"/>
    <dgm:cxn modelId="{B790ABF5-C626-4097-88C7-DA2D1EC1955F}" type="presOf" srcId="{4ACD4D5B-1C80-4BC5-B933-088AA47B369C}" destId="{EC02887A-72FB-4825-91ED-C5EAAD59486D}" srcOrd="0" destOrd="0" presId="urn:microsoft.com/office/officeart/2016/7/layout/RepeatingBendingProcessNew"/>
    <dgm:cxn modelId="{8D10C1F5-F16D-4DEF-A225-6C5AA12920F2}" srcId="{5D6550C3-EEC0-4845-B4A1-5540F453809B}" destId="{7AF604B7-70DB-4F7A-81CF-C680E64E2ED0}" srcOrd="8" destOrd="0" parTransId="{51ED2E3A-235A-42A4-BC16-65C3C1A24C12}" sibTransId="{0AF2AD77-1C00-49DB-BB7C-2EB8B36E659F}"/>
    <dgm:cxn modelId="{FCF4E8FB-9D12-45F4-A6B4-01E96903BC51}" type="presOf" srcId="{0AF2AD77-1C00-49DB-BB7C-2EB8B36E659F}" destId="{24F6B819-4E12-4EFD-A31D-62CC6A7E8A40}" srcOrd="0" destOrd="0" presId="urn:microsoft.com/office/officeart/2016/7/layout/RepeatingBendingProcessNew"/>
    <dgm:cxn modelId="{E6865DFF-B150-4165-872C-0F796946B6B8}" type="presOf" srcId="{825B4B06-8324-41A2-8A36-A644C27DAE26}" destId="{52EFBCFF-A627-4BDF-A4F4-F5C15D52F242}" srcOrd="1" destOrd="0" presId="urn:microsoft.com/office/officeart/2016/7/layout/RepeatingBendingProcessNew"/>
    <dgm:cxn modelId="{2417F061-721F-4BC1-85D3-D6B22EC5F502}" type="presParOf" srcId="{A1F584CC-E5ED-4B8D-BC31-93BF3C73C5F6}" destId="{43AC68EC-5B5D-46B5-885B-8DEC5713C8E0}" srcOrd="0" destOrd="0" presId="urn:microsoft.com/office/officeart/2016/7/layout/RepeatingBendingProcessNew"/>
    <dgm:cxn modelId="{5E7D1B91-84DF-40BD-A884-38628F2E6140}" type="presParOf" srcId="{A1F584CC-E5ED-4B8D-BC31-93BF3C73C5F6}" destId="{640D5CBE-5A79-4CD0-B8D7-4EEFFABB9B3C}" srcOrd="1" destOrd="0" presId="urn:microsoft.com/office/officeart/2016/7/layout/RepeatingBendingProcessNew"/>
    <dgm:cxn modelId="{653D9A7B-10EF-4B81-800A-4E3FE7DB8E38}" type="presParOf" srcId="{640D5CBE-5A79-4CD0-B8D7-4EEFFABB9B3C}" destId="{FB2D2A3A-EE1A-4B19-9421-8A8314654289}" srcOrd="0" destOrd="0" presId="urn:microsoft.com/office/officeart/2016/7/layout/RepeatingBendingProcessNew"/>
    <dgm:cxn modelId="{E80B3E59-9014-4E3C-8BEF-FA6F20D5ACA1}" type="presParOf" srcId="{A1F584CC-E5ED-4B8D-BC31-93BF3C73C5F6}" destId="{4F9AFDDA-2F56-454C-BEB5-27BE7A4320D9}" srcOrd="2" destOrd="0" presId="urn:microsoft.com/office/officeart/2016/7/layout/RepeatingBendingProcessNew"/>
    <dgm:cxn modelId="{FC684239-238C-4860-AB86-42B0F7E885C1}" type="presParOf" srcId="{A1F584CC-E5ED-4B8D-BC31-93BF3C73C5F6}" destId="{C5078882-66F5-4C3A-A0AC-3AD9E2410809}" srcOrd="3" destOrd="0" presId="urn:microsoft.com/office/officeart/2016/7/layout/RepeatingBendingProcessNew"/>
    <dgm:cxn modelId="{E79823DA-7212-4A00-B2B3-8DB08FBB09F6}" type="presParOf" srcId="{C5078882-66F5-4C3A-A0AC-3AD9E2410809}" destId="{B9293F48-67C0-40F6-857C-7AD375C911C8}" srcOrd="0" destOrd="0" presId="urn:microsoft.com/office/officeart/2016/7/layout/RepeatingBendingProcessNew"/>
    <dgm:cxn modelId="{0C2950FA-50FE-4FB4-A561-2E13E21DBFC3}" type="presParOf" srcId="{A1F584CC-E5ED-4B8D-BC31-93BF3C73C5F6}" destId="{ECC5E6A2-F24C-48C6-8403-FE0F57446C51}" srcOrd="4" destOrd="0" presId="urn:microsoft.com/office/officeart/2016/7/layout/RepeatingBendingProcessNew"/>
    <dgm:cxn modelId="{A74FF3A9-6C82-458A-BBF6-33196D29D4C6}" type="presParOf" srcId="{A1F584CC-E5ED-4B8D-BC31-93BF3C73C5F6}" destId="{15F319A4-301A-4CBC-816F-5CB2ABEE90A8}" srcOrd="5" destOrd="0" presId="urn:microsoft.com/office/officeart/2016/7/layout/RepeatingBendingProcessNew"/>
    <dgm:cxn modelId="{742554BC-6105-438C-92B0-D4B0B18282F8}" type="presParOf" srcId="{15F319A4-301A-4CBC-816F-5CB2ABEE90A8}" destId="{52EFBCFF-A627-4BDF-A4F4-F5C15D52F242}" srcOrd="0" destOrd="0" presId="urn:microsoft.com/office/officeart/2016/7/layout/RepeatingBendingProcessNew"/>
    <dgm:cxn modelId="{04625620-26BE-4A18-8A46-635519BDCD78}" type="presParOf" srcId="{A1F584CC-E5ED-4B8D-BC31-93BF3C73C5F6}" destId="{5419CCC9-3611-45F6-85D3-6228EF970207}" srcOrd="6" destOrd="0" presId="urn:microsoft.com/office/officeart/2016/7/layout/RepeatingBendingProcessNew"/>
    <dgm:cxn modelId="{5F532D1A-80E4-45F8-B14E-40097B8EB3B9}" type="presParOf" srcId="{A1F584CC-E5ED-4B8D-BC31-93BF3C73C5F6}" destId="{CA601F62-B2E6-4CFF-AF55-7FFC88DBF11A}" srcOrd="7" destOrd="0" presId="urn:microsoft.com/office/officeart/2016/7/layout/RepeatingBendingProcessNew"/>
    <dgm:cxn modelId="{24A28057-3E25-498B-AEFF-195CCA3269C5}" type="presParOf" srcId="{CA601F62-B2E6-4CFF-AF55-7FFC88DBF11A}" destId="{E758C1AC-6F7D-4465-9055-C811B9671D4F}" srcOrd="0" destOrd="0" presId="urn:microsoft.com/office/officeart/2016/7/layout/RepeatingBendingProcessNew"/>
    <dgm:cxn modelId="{4783BB39-845D-445C-A278-443D16AAE81B}" type="presParOf" srcId="{A1F584CC-E5ED-4B8D-BC31-93BF3C73C5F6}" destId="{E1618733-98C3-4917-A0B2-D3864281481D}" srcOrd="8" destOrd="0" presId="urn:microsoft.com/office/officeart/2016/7/layout/RepeatingBendingProcessNew"/>
    <dgm:cxn modelId="{DB0C0FDC-91DA-4F45-9E81-5AEB4BA2F322}" type="presParOf" srcId="{A1F584CC-E5ED-4B8D-BC31-93BF3C73C5F6}" destId="{D552275B-F07E-47F7-884B-020456E6369A}" srcOrd="9" destOrd="0" presId="urn:microsoft.com/office/officeart/2016/7/layout/RepeatingBendingProcessNew"/>
    <dgm:cxn modelId="{91490D9D-9BDC-4BF8-B72B-130619768304}" type="presParOf" srcId="{D552275B-F07E-47F7-884B-020456E6369A}" destId="{B80EB1F8-ED45-4BB7-B03E-BD821C30C54D}" srcOrd="0" destOrd="0" presId="urn:microsoft.com/office/officeart/2016/7/layout/RepeatingBendingProcessNew"/>
    <dgm:cxn modelId="{FD3BB519-2EA0-4888-BC72-FE65F31E61C7}" type="presParOf" srcId="{A1F584CC-E5ED-4B8D-BC31-93BF3C73C5F6}" destId="{8898BA64-796E-41F4-B76B-8E1B910AF379}" srcOrd="10" destOrd="0" presId="urn:microsoft.com/office/officeart/2016/7/layout/RepeatingBendingProcessNew"/>
    <dgm:cxn modelId="{C34CE9B5-FB4A-4569-A5E1-DA900B50D368}" type="presParOf" srcId="{A1F584CC-E5ED-4B8D-BC31-93BF3C73C5F6}" destId="{44B3C5A7-795E-435F-AB1A-A7D1E8F5B96E}" srcOrd="11" destOrd="0" presId="urn:microsoft.com/office/officeart/2016/7/layout/RepeatingBendingProcessNew"/>
    <dgm:cxn modelId="{CF916491-5784-4CE8-A53D-9DDA4FBEF287}" type="presParOf" srcId="{44B3C5A7-795E-435F-AB1A-A7D1E8F5B96E}" destId="{F6A70E50-6699-4788-92AD-3086CF3DA933}" srcOrd="0" destOrd="0" presId="urn:microsoft.com/office/officeart/2016/7/layout/RepeatingBendingProcessNew"/>
    <dgm:cxn modelId="{C311856E-C220-48F1-AA82-9845D0D3EDEA}" type="presParOf" srcId="{A1F584CC-E5ED-4B8D-BC31-93BF3C73C5F6}" destId="{A33E41D0-75B6-436C-9042-812594CFB51C}" srcOrd="12" destOrd="0" presId="urn:microsoft.com/office/officeart/2016/7/layout/RepeatingBendingProcessNew"/>
    <dgm:cxn modelId="{8ECACF5A-2599-4057-A85B-D0D51D9369CB}" type="presParOf" srcId="{A1F584CC-E5ED-4B8D-BC31-93BF3C73C5F6}" destId="{5A62F8C9-0BD3-4DA3-AB10-363273BCC31C}" srcOrd="13" destOrd="0" presId="urn:microsoft.com/office/officeart/2016/7/layout/RepeatingBendingProcessNew"/>
    <dgm:cxn modelId="{26AB9AC4-9168-469E-A77F-62D9501D754F}" type="presParOf" srcId="{5A62F8C9-0BD3-4DA3-AB10-363273BCC31C}" destId="{8E3C2E54-90F0-4A14-AA09-23C6E06DF806}" srcOrd="0" destOrd="0" presId="urn:microsoft.com/office/officeart/2016/7/layout/RepeatingBendingProcessNew"/>
    <dgm:cxn modelId="{4F924B27-3BDF-4191-9117-67984FBA7704}" type="presParOf" srcId="{A1F584CC-E5ED-4B8D-BC31-93BF3C73C5F6}" destId="{11652459-5633-4EBC-BBF6-C65B5BA30058}" srcOrd="14" destOrd="0" presId="urn:microsoft.com/office/officeart/2016/7/layout/RepeatingBendingProcessNew"/>
    <dgm:cxn modelId="{EE17AB88-38D1-45BE-B72A-63E1E6CD2F99}" type="presParOf" srcId="{A1F584CC-E5ED-4B8D-BC31-93BF3C73C5F6}" destId="{E037F3C5-98D4-4F51-B2FD-50CBA2B384C8}" srcOrd="15" destOrd="0" presId="urn:microsoft.com/office/officeart/2016/7/layout/RepeatingBendingProcessNew"/>
    <dgm:cxn modelId="{3AE565F9-AEAA-470B-B57B-B2328FA23C43}" type="presParOf" srcId="{E037F3C5-98D4-4F51-B2FD-50CBA2B384C8}" destId="{2D00C2F5-97C6-4A49-8F18-9907CFA0198F}" srcOrd="0" destOrd="0" presId="urn:microsoft.com/office/officeart/2016/7/layout/RepeatingBendingProcessNew"/>
    <dgm:cxn modelId="{5A016BF8-FE56-494C-9013-EE53E1EF092A}" type="presParOf" srcId="{A1F584CC-E5ED-4B8D-BC31-93BF3C73C5F6}" destId="{DE2EDE00-9CE4-47BF-9569-140E397DDC49}" srcOrd="16" destOrd="0" presId="urn:microsoft.com/office/officeart/2016/7/layout/RepeatingBendingProcessNew"/>
    <dgm:cxn modelId="{53066A4D-ACE8-4CFD-8D2E-334B8611A19A}" type="presParOf" srcId="{A1F584CC-E5ED-4B8D-BC31-93BF3C73C5F6}" destId="{24F6B819-4E12-4EFD-A31D-62CC6A7E8A40}" srcOrd="17" destOrd="0" presId="urn:microsoft.com/office/officeart/2016/7/layout/RepeatingBendingProcessNew"/>
    <dgm:cxn modelId="{924990CB-4795-4CCC-99F6-F9BD1E32BCEE}" type="presParOf" srcId="{24F6B819-4E12-4EFD-A31D-62CC6A7E8A40}" destId="{67F89EE6-012C-48EF-A7F5-18764AC23D0E}" srcOrd="0" destOrd="0" presId="urn:microsoft.com/office/officeart/2016/7/layout/RepeatingBendingProcessNew"/>
    <dgm:cxn modelId="{5ADB3385-88E1-4085-BF1C-594BB04A2500}" type="presParOf" srcId="{A1F584CC-E5ED-4B8D-BC31-93BF3C73C5F6}" destId="{85B7346B-3476-404A-83A5-1E8CB1E2EE0F}" srcOrd="18" destOrd="0" presId="urn:microsoft.com/office/officeart/2016/7/layout/RepeatingBendingProcessNew"/>
    <dgm:cxn modelId="{15598944-6103-404A-971B-4C5CA9900CB7}" type="presParOf" srcId="{A1F584CC-E5ED-4B8D-BC31-93BF3C73C5F6}" destId="{EC02887A-72FB-4825-91ED-C5EAAD59486D}" srcOrd="19" destOrd="0" presId="urn:microsoft.com/office/officeart/2016/7/layout/RepeatingBendingProcessNew"/>
    <dgm:cxn modelId="{E32D501E-01E3-476B-BD86-894B63C61EC1}" type="presParOf" srcId="{EC02887A-72FB-4825-91ED-C5EAAD59486D}" destId="{FFAAC48C-103D-4E99-9BF2-5C1FE6A2200D}" srcOrd="0" destOrd="0" presId="urn:microsoft.com/office/officeart/2016/7/layout/RepeatingBendingProcessNew"/>
    <dgm:cxn modelId="{45C70FF1-CD09-4B8A-9066-16F77785FB8E}" type="presParOf" srcId="{A1F584CC-E5ED-4B8D-BC31-93BF3C73C5F6}" destId="{81F29889-7563-46B7-8122-4E1730DD3CEB}" srcOrd="20" destOrd="0" presId="urn:microsoft.com/office/officeart/2016/7/layout/RepeatingBendingProcessNew"/>
    <dgm:cxn modelId="{9490B967-645D-4859-9B9D-DEED70EA56BD}" type="presParOf" srcId="{A1F584CC-E5ED-4B8D-BC31-93BF3C73C5F6}" destId="{5A1076D2-048D-4BC6-931B-2A74A102E008}" srcOrd="21" destOrd="0" presId="urn:microsoft.com/office/officeart/2016/7/layout/RepeatingBendingProcessNew"/>
    <dgm:cxn modelId="{40FC33EE-181D-4ACE-8B36-11FB066B9EEF}" type="presParOf" srcId="{5A1076D2-048D-4BC6-931B-2A74A102E008}" destId="{358AC810-1D69-405A-A52A-42B833703599}" srcOrd="0" destOrd="0" presId="urn:microsoft.com/office/officeart/2016/7/layout/RepeatingBendingProcessNew"/>
    <dgm:cxn modelId="{C4431C52-2E71-498D-8A59-2EE3E9D5567B}" type="presParOf" srcId="{A1F584CC-E5ED-4B8D-BC31-93BF3C73C5F6}" destId="{E8E28EAF-3605-495D-95DE-9E5597E4F544}" srcOrd="22" destOrd="0" presId="urn:microsoft.com/office/officeart/2016/7/layout/RepeatingBendingProcessNew"/>
    <dgm:cxn modelId="{7ED9B479-954A-424F-9397-5B714987BEE4}" type="presParOf" srcId="{A1F584CC-E5ED-4B8D-BC31-93BF3C73C5F6}" destId="{3B8726C3-F239-474E-9C86-C7D3EFB1A7A5}" srcOrd="23" destOrd="0" presId="urn:microsoft.com/office/officeart/2016/7/layout/RepeatingBendingProcessNew"/>
    <dgm:cxn modelId="{348663D0-EB5B-4FE5-8A90-47B0F62122E1}" type="presParOf" srcId="{3B8726C3-F239-474E-9C86-C7D3EFB1A7A5}" destId="{FC99410A-78D5-4F41-B8CB-D5F0C30A6142}" srcOrd="0" destOrd="0" presId="urn:microsoft.com/office/officeart/2016/7/layout/RepeatingBendingProcessNew"/>
    <dgm:cxn modelId="{9A34DB38-6B1C-4B4F-AC65-C90EA798724B}" type="presParOf" srcId="{A1F584CC-E5ED-4B8D-BC31-93BF3C73C5F6}" destId="{E5F4D131-2858-43FF-8EE8-DD544C4ABC4B}" srcOrd="24" destOrd="0" presId="urn:microsoft.com/office/officeart/2016/7/layout/RepeatingBendingProcessNew"/>
    <dgm:cxn modelId="{360CA4E8-52CF-49C2-8138-C5B4B3E7697E}" type="presParOf" srcId="{A1F584CC-E5ED-4B8D-BC31-93BF3C73C5F6}" destId="{1F7659A8-A9EC-49BD-AF1A-E29637D77F8D}" srcOrd="25" destOrd="0" presId="urn:microsoft.com/office/officeart/2016/7/layout/RepeatingBendingProcessNew"/>
    <dgm:cxn modelId="{283DE486-2836-4679-8ECD-62036617C8FB}" type="presParOf" srcId="{1F7659A8-A9EC-49BD-AF1A-E29637D77F8D}" destId="{1E31F4E6-98BA-496C-B572-82DF8F9AD5BB}" srcOrd="0" destOrd="0" presId="urn:microsoft.com/office/officeart/2016/7/layout/RepeatingBendingProcessNew"/>
    <dgm:cxn modelId="{43A3FF8B-A36D-4D1D-9B71-33A47F87559A}" type="presParOf" srcId="{A1F584CC-E5ED-4B8D-BC31-93BF3C73C5F6}" destId="{B3CB8B89-CA8E-4F9A-9DCE-90E90BC306FA}" srcOrd="26" destOrd="0" presId="urn:microsoft.com/office/officeart/2016/7/layout/RepeatingBendingProcessNew"/>
    <dgm:cxn modelId="{DCED02E7-09D9-47B8-98D2-B8AFF11026C6}" type="presParOf" srcId="{A1F584CC-E5ED-4B8D-BC31-93BF3C73C5F6}" destId="{569CF42D-9687-48BE-A0E0-1B200338F5C0}" srcOrd="27" destOrd="0" presId="urn:microsoft.com/office/officeart/2016/7/layout/RepeatingBendingProcessNew"/>
    <dgm:cxn modelId="{C684A3B0-604F-4FA6-B8D2-D31657DEF7B5}" type="presParOf" srcId="{569CF42D-9687-48BE-A0E0-1B200338F5C0}" destId="{8FFD1712-A58E-4FA7-A02F-998B108B2CD0}" srcOrd="0" destOrd="0" presId="urn:microsoft.com/office/officeart/2016/7/layout/RepeatingBendingProcessNew"/>
    <dgm:cxn modelId="{93BC33A4-DEDB-46E2-9D48-5E396A0066E5}" type="presParOf" srcId="{A1F584CC-E5ED-4B8D-BC31-93BF3C73C5F6}" destId="{8F764425-B08A-43D4-8673-ACDCC5846A9F}" srcOrd="2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8A1FFB-CCAC-43DE-9158-A7FCED3683B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16C9738-3FB5-4B4C-BA5F-7F72E674673A}">
      <dgm:prSet/>
      <dgm:spPr/>
      <dgm:t>
        <a:bodyPr/>
        <a:lstStyle/>
        <a:p>
          <a:r>
            <a:rPr lang="en-US"/>
            <a:t>Hiring lifecycle is predefined and not fully customizable</a:t>
          </a:r>
        </a:p>
      </dgm:t>
    </dgm:pt>
    <dgm:pt modelId="{9310E88F-A572-499E-855F-9D34C58AAC39}" type="parTrans" cxnId="{87EB1AFA-6265-4DF6-AFB3-B70AF45DA2C4}">
      <dgm:prSet/>
      <dgm:spPr/>
      <dgm:t>
        <a:bodyPr/>
        <a:lstStyle/>
        <a:p>
          <a:endParaRPr lang="en-US"/>
        </a:p>
      </dgm:t>
    </dgm:pt>
    <dgm:pt modelId="{9AA7E770-7D26-4A96-9DCD-617E43056F52}" type="sibTrans" cxnId="{87EB1AFA-6265-4DF6-AFB3-B70AF45DA2C4}">
      <dgm:prSet/>
      <dgm:spPr/>
      <dgm:t>
        <a:bodyPr/>
        <a:lstStyle/>
        <a:p>
          <a:endParaRPr lang="en-US"/>
        </a:p>
      </dgm:t>
    </dgm:pt>
    <dgm:pt modelId="{0E0C73F5-D299-42E6-BD46-0FBF1BAD0ACA}">
      <dgm:prSet/>
      <dgm:spPr/>
      <dgm:t>
        <a:bodyPr/>
        <a:lstStyle/>
        <a:p>
          <a:r>
            <a:rPr lang="en-US"/>
            <a:t>Role structure is limited to employer, job seeker, and admin</a:t>
          </a:r>
        </a:p>
      </dgm:t>
    </dgm:pt>
    <dgm:pt modelId="{5ECBE642-A4BC-4B21-952C-69EBC85B264A}" type="parTrans" cxnId="{39E318D1-FF0B-444D-9025-1DD4B2FF452E}">
      <dgm:prSet/>
      <dgm:spPr/>
      <dgm:t>
        <a:bodyPr/>
        <a:lstStyle/>
        <a:p>
          <a:endParaRPr lang="en-US"/>
        </a:p>
      </dgm:t>
    </dgm:pt>
    <dgm:pt modelId="{86299671-C200-4511-9CDB-2A447E4FE423}" type="sibTrans" cxnId="{39E318D1-FF0B-444D-9025-1DD4B2FF452E}">
      <dgm:prSet/>
      <dgm:spPr/>
      <dgm:t>
        <a:bodyPr/>
        <a:lstStyle/>
        <a:p>
          <a:endParaRPr lang="en-US"/>
        </a:p>
      </dgm:t>
    </dgm:pt>
    <dgm:pt modelId="{F1824152-3BEA-4BE3-9CD2-BFA30C6C65D2}">
      <dgm:prSet/>
      <dgm:spPr/>
      <dgm:t>
        <a:bodyPr/>
        <a:lstStyle/>
        <a:p>
          <a:r>
            <a:rPr lang="en-US"/>
            <a:t>Basic recommendation logic (no machine learning implementation)</a:t>
          </a:r>
        </a:p>
      </dgm:t>
    </dgm:pt>
    <dgm:pt modelId="{8E7AACB6-8CD4-4106-937D-39A39F273FED}" type="parTrans" cxnId="{66F5A0B3-83C4-4AB9-B28E-0EDE2A59156A}">
      <dgm:prSet/>
      <dgm:spPr/>
      <dgm:t>
        <a:bodyPr/>
        <a:lstStyle/>
        <a:p>
          <a:endParaRPr lang="en-US"/>
        </a:p>
      </dgm:t>
    </dgm:pt>
    <dgm:pt modelId="{481BADBA-291E-418E-A203-5AD4D2B54C07}" type="sibTrans" cxnId="{66F5A0B3-83C4-4AB9-B28E-0EDE2A59156A}">
      <dgm:prSet/>
      <dgm:spPr/>
      <dgm:t>
        <a:bodyPr/>
        <a:lstStyle/>
        <a:p>
          <a:endParaRPr lang="en-US"/>
        </a:p>
      </dgm:t>
    </dgm:pt>
    <dgm:pt modelId="{A61AA829-B14C-46EF-ACE1-C99DA134DE91}">
      <dgm:prSet/>
      <dgm:spPr/>
      <dgm:t>
        <a:bodyPr/>
        <a:lstStyle/>
        <a:p>
          <a:r>
            <a:rPr lang="en-US"/>
            <a:t>Performance optimization for large-scale traffic was not evaluated</a:t>
          </a:r>
        </a:p>
      </dgm:t>
    </dgm:pt>
    <dgm:pt modelId="{7B2F394C-277C-42D6-8F80-E8EA72D8076B}" type="parTrans" cxnId="{79E3474E-3648-4386-A118-94861A303EA7}">
      <dgm:prSet/>
      <dgm:spPr/>
      <dgm:t>
        <a:bodyPr/>
        <a:lstStyle/>
        <a:p>
          <a:endParaRPr lang="en-US"/>
        </a:p>
      </dgm:t>
    </dgm:pt>
    <dgm:pt modelId="{D32F4E8E-0179-416A-8801-0CC03C3D0984}" type="sibTrans" cxnId="{79E3474E-3648-4386-A118-94861A303EA7}">
      <dgm:prSet/>
      <dgm:spPr/>
      <dgm:t>
        <a:bodyPr/>
        <a:lstStyle/>
        <a:p>
          <a:endParaRPr lang="en-US"/>
        </a:p>
      </dgm:t>
    </dgm:pt>
    <dgm:pt modelId="{FF32EFB0-1F48-430B-BF56-335CBCE0A0DE}">
      <dgm:prSet/>
      <dgm:spPr/>
      <dgm:t>
        <a:bodyPr/>
        <a:lstStyle/>
        <a:p>
          <a:r>
            <a:rPr lang="en-US"/>
            <a:t>Security implementation is basic</a:t>
          </a:r>
        </a:p>
      </dgm:t>
    </dgm:pt>
    <dgm:pt modelId="{1AE9C3CA-3931-4A79-B5DF-BAFCB3525CA9}" type="parTrans" cxnId="{D03E848C-1765-44D9-B67C-D1C7A13E9473}">
      <dgm:prSet/>
      <dgm:spPr/>
      <dgm:t>
        <a:bodyPr/>
        <a:lstStyle/>
        <a:p>
          <a:endParaRPr lang="en-US"/>
        </a:p>
      </dgm:t>
    </dgm:pt>
    <dgm:pt modelId="{82A4D6CC-C4C0-4228-98B8-DC52FDA06ECA}" type="sibTrans" cxnId="{D03E848C-1765-44D9-B67C-D1C7A13E9473}">
      <dgm:prSet/>
      <dgm:spPr/>
      <dgm:t>
        <a:bodyPr/>
        <a:lstStyle/>
        <a:p>
          <a:endParaRPr lang="en-US"/>
        </a:p>
      </dgm:t>
    </dgm:pt>
    <dgm:pt modelId="{67607C4E-98AF-479A-A647-D8CA32B4871F}">
      <dgm:prSet/>
      <dgm:spPr/>
      <dgm:t>
        <a:bodyPr/>
        <a:lstStyle/>
        <a:p>
          <a:r>
            <a:rPr lang="en-US"/>
            <a:t>Deployment intended for demonstration and academic validation</a:t>
          </a:r>
        </a:p>
      </dgm:t>
    </dgm:pt>
    <dgm:pt modelId="{DC74AD7E-E779-46BB-9494-32A7562CF85B}" type="parTrans" cxnId="{DA2C04B9-FFD7-48FC-9878-88701EAE7CBA}">
      <dgm:prSet/>
      <dgm:spPr/>
      <dgm:t>
        <a:bodyPr/>
        <a:lstStyle/>
        <a:p>
          <a:endParaRPr lang="en-US"/>
        </a:p>
      </dgm:t>
    </dgm:pt>
    <dgm:pt modelId="{38A6FEB5-0B74-435C-879E-B9D918AEA6DC}" type="sibTrans" cxnId="{DA2C04B9-FFD7-48FC-9878-88701EAE7CBA}">
      <dgm:prSet/>
      <dgm:spPr/>
      <dgm:t>
        <a:bodyPr/>
        <a:lstStyle/>
        <a:p>
          <a:endParaRPr lang="en-US"/>
        </a:p>
      </dgm:t>
    </dgm:pt>
    <dgm:pt modelId="{605211F8-DCFD-4323-B8B9-ED4127A34D19}" type="pres">
      <dgm:prSet presAssocID="{B48A1FFB-CCAC-43DE-9158-A7FCED3683B5}" presName="root" presStyleCnt="0">
        <dgm:presLayoutVars>
          <dgm:dir/>
          <dgm:resizeHandles val="exact"/>
        </dgm:presLayoutVars>
      </dgm:prSet>
      <dgm:spPr/>
    </dgm:pt>
    <dgm:pt modelId="{3C8F3918-090E-40E2-A2C2-27623AE613A7}" type="pres">
      <dgm:prSet presAssocID="{D16C9738-3FB5-4B4C-BA5F-7F72E674673A}" presName="compNode" presStyleCnt="0"/>
      <dgm:spPr/>
    </dgm:pt>
    <dgm:pt modelId="{F9627230-B0C6-4EC7-83F1-1ADB41D8E760}" type="pres">
      <dgm:prSet presAssocID="{D16C9738-3FB5-4B4C-BA5F-7F72E674673A}" presName="bgRect" presStyleLbl="bgShp" presStyleIdx="0" presStyleCnt="6"/>
      <dgm:spPr/>
    </dgm:pt>
    <dgm:pt modelId="{B4C8E453-04F4-4E1D-A209-D2D1B84FC50A}" type="pres">
      <dgm:prSet presAssocID="{D16C9738-3FB5-4B4C-BA5F-7F72E674673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688CD7D2-7F9C-4424-A240-DDC83C5DE50B}" type="pres">
      <dgm:prSet presAssocID="{D16C9738-3FB5-4B4C-BA5F-7F72E674673A}" presName="spaceRect" presStyleCnt="0"/>
      <dgm:spPr/>
    </dgm:pt>
    <dgm:pt modelId="{4D37A371-A20A-4E2C-A193-0B1F91BA44E7}" type="pres">
      <dgm:prSet presAssocID="{D16C9738-3FB5-4B4C-BA5F-7F72E674673A}" presName="parTx" presStyleLbl="revTx" presStyleIdx="0" presStyleCnt="6">
        <dgm:presLayoutVars>
          <dgm:chMax val="0"/>
          <dgm:chPref val="0"/>
        </dgm:presLayoutVars>
      </dgm:prSet>
      <dgm:spPr/>
    </dgm:pt>
    <dgm:pt modelId="{0F35EAF0-F3A9-4361-AF7F-5BB1DCE6222C}" type="pres">
      <dgm:prSet presAssocID="{9AA7E770-7D26-4A96-9DCD-617E43056F52}" presName="sibTrans" presStyleCnt="0"/>
      <dgm:spPr/>
    </dgm:pt>
    <dgm:pt modelId="{16A9848A-42C5-46BA-8037-A5F18A0669F7}" type="pres">
      <dgm:prSet presAssocID="{0E0C73F5-D299-42E6-BD46-0FBF1BAD0ACA}" presName="compNode" presStyleCnt="0"/>
      <dgm:spPr/>
    </dgm:pt>
    <dgm:pt modelId="{6CCEB6F7-E3DE-45E2-9435-4B5915B8B97E}" type="pres">
      <dgm:prSet presAssocID="{0E0C73F5-D299-42E6-BD46-0FBF1BAD0ACA}" presName="bgRect" presStyleLbl="bgShp" presStyleIdx="1" presStyleCnt="6"/>
      <dgm:spPr/>
    </dgm:pt>
    <dgm:pt modelId="{DB0A9462-9708-4BF3-89B3-445CBFDB8B98}" type="pres">
      <dgm:prSet presAssocID="{0E0C73F5-D299-42E6-BD46-0FBF1BAD0ACA}"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934D693A-E7F2-4035-8FC6-8716DF73EB77}" type="pres">
      <dgm:prSet presAssocID="{0E0C73F5-D299-42E6-BD46-0FBF1BAD0ACA}" presName="spaceRect" presStyleCnt="0"/>
      <dgm:spPr/>
    </dgm:pt>
    <dgm:pt modelId="{58A8060F-F515-4F61-AF39-52FF8E7388F1}" type="pres">
      <dgm:prSet presAssocID="{0E0C73F5-D299-42E6-BD46-0FBF1BAD0ACA}" presName="parTx" presStyleLbl="revTx" presStyleIdx="1" presStyleCnt="6">
        <dgm:presLayoutVars>
          <dgm:chMax val="0"/>
          <dgm:chPref val="0"/>
        </dgm:presLayoutVars>
      </dgm:prSet>
      <dgm:spPr/>
    </dgm:pt>
    <dgm:pt modelId="{111A2D65-4C87-4EDB-9107-B9E548573F8F}" type="pres">
      <dgm:prSet presAssocID="{86299671-C200-4511-9CDB-2A447E4FE423}" presName="sibTrans" presStyleCnt="0"/>
      <dgm:spPr/>
    </dgm:pt>
    <dgm:pt modelId="{35F1C2AE-5B49-4442-9E03-C8160BEBEF64}" type="pres">
      <dgm:prSet presAssocID="{F1824152-3BEA-4BE3-9CD2-BFA30C6C65D2}" presName="compNode" presStyleCnt="0"/>
      <dgm:spPr/>
    </dgm:pt>
    <dgm:pt modelId="{B7B3A240-9946-499B-A70C-306948E447B9}" type="pres">
      <dgm:prSet presAssocID="{F1824152-3BEA-4BE3-9CD2-BFA30C6C65D2}" presName="bgRect" presStyleLbl="bgShp" presStyleIdx="2" presStyleCnt="6"/>
      <dgm:spPr/>
    </dgm:pt>
    <dgm:pt modelId="{74CDF1AF-F519-42A4-B5F7-87CF40E1A3DA}" type="pres">
      <dgm:prSet presAssocID="{F1824152-3BEA-4BE3-9CD2-BFA30C6C65D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4FCBFC0C-1BDE-48ED-84E8-11800E552E50}" type="pres">
      <dgm:prSet presAssocID="{F1824152-3BEA-4BE3-9CD2-BFA30C6C65D2}" presName="spaceRect" presStyleCnt="0"/>
      <dgm:spPr/>
    </dgm:pt>
    <dgm:pt modelId="{54D0A5A1-A372-4A63-8007-8A3B8BBE841F}" type="pres">
      <dgm:prSet presAssocID="{F1824152-3BEA-4BE3-9CD2-BFA30C6C65D2}" presName="parTx" presStyleLbl="revTx" presStyleIdx="2" presStyleCnt="6">
        <dgm:presLayoutVars>
          <dgm:chMax val="0"/>
          <dgm:chPref val="0"/>
        </dgm:presLayoutVars>
      </dgm:prSet>
      <dgm:spPr/>
    </dgm:pt>
    <dgm:pt modelId="{9EF45224-D48A-43C9-A680-742F37BC23DF}" type="pres">
      <dgm:prSet presAssocID="{481BADBA-291E-418E-A203-5AD4D2B54C07}" presName="sibTrans" presStyleCnt="0"/>
      <dgm:spPr/>
    </dgm:pt>
    <dgm:pt modelId="{4D51E637-3D4D-4A3B-A4F5-86D847C0778F}" type="pres">
      <dgm:prSet presAssocID="{A61AA829-B14C-46EF-ACE1-C99DA134DE91}" presName="compNode" presStyleCnt="0"/>
      <dgm:spPr/>
    </dgm:pt>
    <dgm:pt modelId="{3D7D3B06-244B-43E8-AEE0-C7A5612D2083}" type="pres">
      <dgm:prSet presAssocID="{A61AA829-B14C-46EF-ACE1-C99DA134DE91}" presName="bgRect" presStyleLbl="bgShp" presStyleIdx="3" presStyleCnt="6"/>
      <dgm:spPr/>
    </dgm:pt>
    <dgm:pt modelId="{2D1E8326-F1A2-43ED-9839-C9455A76E4A9}" type="pres">
      <dgm:prSet presAssocID="{A61AA829-B14C-46EF-ACE1-C99DA134DE9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ffic Light"/>
        </a:ext>
      </dgm:extLst>
    </dgm:pt>
    <dgm:pt modelId="{32AD80F8-9F7F-4E3C-BCF0-961BD1F1F685}" type="pres">
      <dgm:prSet presAssocID="{A61AA829-B14C-46EF-ACE1-C99DA134DE91}" presName="spaceRect" presStyleCnt="0"/>
      <dgm:spPr/>
    </dgm:pt>
    <dgm:pt modelId="{CE7B3773-B84B-4EF3-ACDE-6F988A4E29FA}" type="pres">
      <dgm:prSet presAssocID="{A61AA829-B14C-46EF-ACE1-C99DA134DE91}" presName="parTx" presStyleLbl="revTx" presStyleIdx="3" presStyleCnt="6">
        <dgm:presLayoutVars>
          <dgm:chMax val="0"/>
          <dgm:chPref val="0"/>
        </dgm:presLayoutVars>
      </dgm:prSet>
      <dgm:spPr/>
    </dgm:pt>
    <dgm:pt modelId="{2D2FDA2E-2F34-4A1A-881A-91BEC90BBB01}" type="pres">
      <dgm:prSet presAssocID="{D32F4E8E-0179-416A-8801-0CC03C3D0984}" presName="sibTrans" presStyleCnt="0"/>
      <dgm:spPr/>
    </dgm:pt>
    <dgm:pt modelId="{DA62593D-7938-4CA3-A13A-F4FF5D9445E3}" type="pres">
      <dgm:prSet presAssocID="{FF32EFB0-1F48-430B-BF56-335CBCE0A0DE}" presName="compNode" presStyleCnt="0"/>
      <dgm:spPr/>
    </dgm:pt>
    <dgm:pt modelId="{0314D966-AA9D-4E2B-85C6-A5709F80D922}" type="pres">
      <dgm:prSet presAssocID="{FF32EFB0-1F48-430B-BF56-335CBCE0A0DE}" presName="bgRect" presStyleLbl="bgShp" presStyleIdx="4" presStyleCnt="6"/>
      <dgm:spPr/>
    </dgm:pt>
    <dgm:pt modelId="{3522E1FD-02E9-4D81-BBD8-0D50C527AB85}" type="pres">
      <dgm:prSet presAssocID="{FF32EFB0-1F48-430B-BF56-335CBCE0A0D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CE0B9F57-C654-4AAE-A233-9587255F6E86}" type="pres">
      <dgm:prSet presAssocID="{FF32EFB0-1F48-430B-BF56-335CBCE0A0DE}" presName="spaceRect" presStyleCnt="0"/>
      <dgm:spPr/>
    </dgm:pt>
    <dgm:pt modelId="{E5D58C08-81C1-4DAE-AE5B-28659325365B}" type="pres">
      <dgm:prSet presAssocID="{FF32EFB0-1F48-430B-BF56-335CBCE0A0DE}" presName="parTx" presStyleLbl="revTx" presStyleIdx="4" presStyleCnt="6">
        <dgm:presLayoutVars>
          <dgm:chMax val="0"/>
          <dgm:chPref val="0"/>
        </dgm:presLayoutVars>
      </dgm:prSet>
      <dgm:spPr/>
    </dgm:pt>
    <dgm:pt modelId="{A016FBE2-49A7-40AD-B363-B42B580FDE11}" type="pres">
      <dgm:prSet presAssocID="{82A4D6CC-C4C0-4228-98B8-DC52FDA06ECA}" presName="sibTrans" presStyleCnt="0"/>
      <dgm:spPr/>
    </dgm:pt>
    <dgm:pt modelId="{957A5909-9E8A-45CF-99E4-868EA5454D28}" type="pres">
      <dgm:prSet presAssocID="{67607C4E-98AF-479A-A647-D8CA32B4871F}" presName="compNode" presStyleCnt="0"/>
      <dgm:spPr/>
    </dgm:pt>
    <dgm:pt modelId="{ED8219BF-191C-4568-AD59-883C24B6FF6B}" type="pres">
      <dgm:prSet presAssocID="{67607C4E-98AF-479A-A647-D8CA32B4871F}" presName="bgRect" presStyleLbl="bgShp" presStyleIdx="5" presStyleCnt="6"/>
      <dgm:spPr/>
    </dgm:pt>
    <dgm:pt modelId="{8C73EAC3-4231-43E9-80CC-440E51A9689A}" type="pres">
      <dgm:prSet presAssocID="{67607C4E-98AF-479A-A647-D8CA32B4871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eacher"/>
        </a:ext>
      </dgm:extLst>
    </dgm:pt>
    <dgm:pt modelId="{091DAF0A-6043-4C8F-A971-38EF1E29F742}" type="pres">
      <dgm:prSet presAssocID="{67607C4E-98AF-479A-A647-D8CA32B4871F}" presName="spaceRect" presStyleCnt="0"/>
      <dgm:spPr/>
    </dgm:pt>
    <dgm:pt modelId="{71E25B2D-8286-48B7-82A1-600AB7538F81}" type="pres">
      <dgm:prSet presAssocID="{67607C4E-98AF-479A-A647-D8CA32B4871F}" presName="parTx" presStyleLbl="revTx" presStyleIdx="5" presStyleCnt="6">
        <dgm:presLayoutVars>
          <dgm:chMax val="0"/>
          <dgm:chPref val="0"/>
        </dgm:presLayoutVars>
      </dgm:prSet>
      <dgm:spPr/>
    </dgm:pt>
  </dgm:ptLst>
  <dgm:cxnLst>
    <dgm:cxn modelId="{6FAA9708-F754-4757-81ED-8A0D80D5D86D}" type="presOf" srcId="{D16C9738-3FB5-4B4C-BA5F-7F72E674673A}" destId="{4D37A371-A20A-4E2C-A193-0B1F91BA44E7}" srcOrd="0" destOrd="0" presId="urn:microsoft.com/office/officeart/2018/2/layout/IconVerticalSolidList"/>
    <dgm:cxn modelId="{B2E93D6D-E8A3-4A07-B583-C525E8947009}" type="presOf" srcId="{FF32EFB0-1F48-430B-BF56-335CBCE0A0DE}" destId="{E5D58C08-81C1-4DAE-AE5B-28659325365B}" srcOrd="0" destOrd="0" presId="urn:microsoft.com/office/officeart/2018/2/layout/IconVerticalSolidList"/>
    <dgm:cxn modelId="{79E3474E-3648-4386-A118-94861A303EA7}" srcId="{B48A1FFB-CCAC-43DE-9158-A7FCED3683B5}" destId="{A61AA829-B14C-46EF-ACE1-C99DA134DE91}" srcOrd="3" destOrd="0" parTransId="{7B2F394C-277C-42D6-8F80-E8EA72D8076B}" sibTransId="{D32F4E8E-0179-416A-8801-0CC03C3D0984}"/>
    <dgm:cxn modelId="{3F98DB71-039B-409E-BC76-B3E37CE275D8}" type="presOf" srcId="{B48A1FFB-CCAC-43DE-9158-A7FCED3683B5}" destId="{605211F8-DCFD-4323-B8B9-ED4127A34D19}" srcOrd="0" destOrd="0" presId="urn:microsoft.com/office/officeart/2018/2/layout/IconVerticalSolidList"/>
    <dgm:cxn modelId="{37DC6658-0955-4E05-88B2-AC8A13EAC683}" type="presOf" srcId="{F1824152-3BEA-4BE3-9CD2-BFA30C6C65D2}" destId="{54D0A5A1-A372-4A63-8007-8A3B8BBE841F}" srcOrd="0" destOrd="0" presId="urn:microsoft.com/office/officeart/2018/2/layout/IconVerticalSolidList"/>
    <dgm:cxn modelId="{D26CCD79-52D1-4D2F-943A-E89DE7AB85A9}" type="presOf" srcId="{67607C4E-98AF-479A-A647-D8CA32B4871F}" destId="{71E25B2D-8286-48B7-82A1-600AB7538F81}" srcOrd="0" destOrd="0" presId="urn:microsoft.com/office/officeart/2018/2/layout/IconVerticalSolidList"/>
    <dgm:cxn modelId="{D03E848C-1765-44D9-B67C-D1C7A13E9473}" srcId="{B48A1FFB-CCAC-43DE-9158-A7FCED3683B5}" destId="{FF32EFB0-1F48-430B-BF56-335CBCE0A0DE}" srcOrd="4" destOrd="0" parTransId="{1AE9C3CA-3931-4A79-B5DF-BAFCB3525CA9}" sibTransId="{82A4D6CC-C4C0-4228-98B8-DC52FDA06ECA}"/>
    <dgm:cxn modelId="{7B8E4E90-BDBA-441F-9DCC-0F7283B88560}" type="presOf" srcId="{0E0C73F5-D299-42E6-BD46-0FBF1BAD0ACA}" destId="{58A8060F-F515-4F61-AF39-52FF8E7388F1}" srcOrd="0" destOrd="0" presId="urn:microsoft.com/office/officeart/2018/2/layout/IconVerticalSolidList"/>
    <dgm:cxn modelId="{66F5A0B3-83C4-4AB9-B28E-0EDE2A59156A}" srcId="{B48A1FFB-CCAC-43DE-9158-A7FCED3683B5}" destId="{F1824152-3BEA-4BE3-9CD2-BFA30C6C65D2}" srcOrd="2" destOrd="0" parTransId="{8E7AACB6-8CD4-4106-937D-39A39F273FED}" sibTransId="{481BADBA-291E-418E-A203-5AD4D2B54C07}"/>
    <dgm:cxn modelId="{DA2C04B9-FFD7-48FC-9878-88701EAE7CBA}" srcId="{B48A1FFB-CCAC-43DE-9158-A7FCED3683B5}" destId="{67607C4E-98AF-479A-A647-D8CA32B4871F}" srcOrd="5" destOrd="0" parTransId="{DC74AD7E-E779-46BB-9494-32A7562CF85B}" sibTransId="{38A6FEB5-0B74-435C-879E-B9D918AEA6DC}"/>
    <dgm:cxn modelId="{39E318D1-FF0B-444D-9025-1DD4B2FF452E}" srcId="{B48A1FFB-CCAC-43DE-9158-A7FCED3683B5}" destId="{0E0C73F5-D299-42E6-BD46-0FBF1BAD0ACA}" srcOrd="1" destOrd="0" parTransId="{5ECBE642-A4BC-4B21-952C-69EBC85B264A}" sibTransId="{86299671-C200-4511-9CDB-2A447E4FE423}"/>
    <dgm:cxn modelId="{D01BA2D4-CCD5-4667-AEE7-B4C9CE880D83}" type="presOf" srcId="{A61AA829-B14C-46EF-ACE1-C99DA134DE91}" destId="{CE7B3773-B84B-4EF3-ACDE-6F988A4E29FA}" srcOrd="0" destOrd="0" presId="urn:microsoft.com/office/officeart/2018/2/layout/IconVerticalSolidList"/>
    <dgm:cxn modelId="{87EB1AFA-6265-4DF6-AFB3-B70AF45DA2C4}" srcId="{B48A1FFB-CCAC-43DE-9158-A7FCED3683B5}" destId="{D16C9738-3FB5-4B4C-BA5F-7F72E674673A}" srcOrd="0" destOrd="0" parTransId="{9310E88F-A572-499E-855F-9D34C58AAC39}" sibTransId="{9AA7E770-7D26-4A96-9DCD-617E43056F52}"/>
    <dgm:cxn modelId="{D93E8306-D9FB-49D1-8C4B-200910ACA3FC}" type="presParOf" srcId="{605211F8-DCFD-4323-B8B9-ED4127A34D19}" destId="{3C8F3918-090E-40E2-A2C2-27623AE613A7}" srcOrd="0" destOrd="0" presId="urn:microsoft.com/office/officeart/2018/2/layout/IconVerticalSolidList"/>
    <dgm:cxn modelId="{D2BA1485-CB28-498A-8DF0-4FF502F987B0}" type="presParOf" srcId="{3C8F3918-090E-40E2-A2C2-27623AE613A7}" destId="{F9627230-B0C6-4EC7-83F1-1ADB41D8E760}" srcOrd="0" destOrd="0" presId="urn:microsoft.com/office/officeart/2018/2/layout/IconVerticalSolidList"/>
    <dgm:cxn modelId="{7F5FD620-79E3-4076-8AEB-92077A395498}" type="presParOf" srcId="{3C8F3918-090E-40E2-A2C2-27623AE613A7}" destId="{B4C8E453-04F4-4E1D-A209-D2D1B84FC50A}" srcOrd="1" destOrd="0" presId="urn:microsoft.com/office/officeart/2018/2/layout/IconVerticalSolidList"/>
    <dgm:cxn modelId="{C5392F61-30F0-4B56-AB45-AFD15A46C02C}" type="presParOf" srcId="{3C8F3918-090E-40E2-A2C2-27623AE613A7}" destId="{688CD7D2-7F9C-4424-A240-DDC83C5DE50B}" srcOrd="2" destOrd="0" presId="urn:microsoft.com/office/officeart/2018/2/layout/IconVerticalSolidList"/>
    <dgm:cxn modelId="{6FCA0AE7-588B-409F-A59D-FAFF55A46726}" type="presParOf" srcId="{3C8F3918-090E-40E2-A2C2-27623AE613A7}" destId="{4D37A371-A20A-4E2C-A193-0B1F91BA44E7}" srcOrd="3" destOrd="0" presId="urn:microsoft.com/office/officeart/2018/2/layout/IconVerticalSolidList"/>
    <dgm:cxn modelId="{A8463265-C6CA-4439-B184-D1E9DFCBD6B3}" type="presParOf" srcId="{605211F8-DCFD-4323-B8B9-ED4127A34D19}" destId="{0F35EAF0-F3A9-4361-AF7F-5BB1DCE6222C}" srcOrd="1" destOrd="0" presId="urn:microsoft.com/office/officeart/2018/2/layout/IconVerticalSolidList"/>
    <dgm:cxn modelId="{EC771D2B-B692-4142-B541-B4DBBEC85822}" type="presParOf" srcId="{605211F8-DCFD-4323-B8B9-ED4127A34D19}" destId="{16A9848A-42C5-46BA-8037-A5F18A0669F7}" srcOrd="2" destOrd="0" presId="urn:microsoft.com/office/officeart/2018/2/layout/IconVerticalSolidList"/>
    <dgm:cxn modelId="{90CBD004-A994-4D13-8E34-9E0CACF17ED5}" type="presParOf" srcId="{16A9848A-42C5-46BA-8037-A5F18A0669F7}" destId="{6CCEB6F7-E3DE-45E2-9435-4B5915B8B97E}" srcOrd="0" destOrd="0" presId="urn:microsoft.com/office/officeart/2018/2/layout/IconVerticalSolidList"/>
    <dgm:cxn modelId="{11DF0BBE-102F-4ACE-9ACA-1358FE34A476}" type="presParOf" srcId="{16A9848A-42C5-46BA-8037-A5F18A0669F7}" destId="{DB0A9462-9708-4BF3-89B3-445CBFDB8B98}" srcOrd="1" destOrd="0" presId="urn:microsoft.com/office/officeart/2018/2/layout/IconVerticalSolidList"/>
    <dgm:cxn modelId="{F2AE7A7B-DDAC-4697-A069-E7550E122F1C}" type="presParOf" srcId="{16A9848A-42C5-46BA-8037-A5F18A0669F7}" destId="{934D693A-E7F2-4035-8FC6-8716DF73EB77}" srcOrd="2" destOrd="0" presId="urn:microsoft.com/office/officeart/2018/2/layout/IconVerticalSolidList"/>
    <dgm:cxn modelId="{6BE871EF-D191-4A20-868B-769EE3A8BB36}" type="presParOf" srcId="{16A9848A-42C5-46BA-8037-A5F18A0669F7}" destId="{58A8060F-F515-4F61-AF39-52FF8E7388F1}" srcOrd="3" destOrd="0" presId="urn:microsoft.com/office/officeart/2018/2/layout/IconVerticalSolidList"/>
    <dgm:cxn modelId="{FF6D2085-3FE9-424D-A903-6DA689904E2A}" type="presParOf" srcId="{605211F8-DCFD-4323-B8B9-ED4127A34D19}" destId="{111A2D65-4C87-4EDB-9107-B9E548573F8F}" srcOrd="3" destOrd="0" presId="urn:microsoft.com/office/officeart/2018/2/layout/IconVerticalSolidList"/>
    <dgm:cxn modelId="{38082385-72CE-41D6-A9F2-6A8DA9F211AC}" type="presParOf" srcId="{605211F8-DCFD-4323-B8B9-ED4127A34D19}" destId="{35F1C2AE-5B49-4442-9E03-C8160BEBEF64}" srcOrd="4" destOrd="0" presId="urn:microsoft.com/office/officeart/2018/2/layout/IconVerticalSolidList"/>
    <dgm:cxn modelId="{FF2F7169-349B-40F0-8E44-0A9B0682C9BA}" type="presParOf" srcId="{35F1C2AE-5B49-4442-9E03-C8160BEBEF64}" destId="{B7B3A240-9946-499B-A70C-306948E447B9}" srcOrd="0" destOrd="0" presId="urn:microsoft.com/office/officeart/2018/2/layout/IconVerticalSolidList"/>
    <dgm:cxn modelId="{7E2155E2-A2FF-4E96-B1DC-795AC07AB0D7}" type="presParOf" srcId="{35F1C2AE-5B49-4442-9E03-C8160BEBEF64}" destId="{74CDF1AF-F519-42A4-B5F7-87CF40E1A3DA}" srcOrd="1" destOrd="0" presId="urn:microsoft.com/office/officeart/2018/2/layout/IconVerticalSolidList"/>
    <dgm:cxn modelId="{E9D7E3EB-3E6A-4130-BE48-52F583706563}" type="presParOf" srcId="{35F1C2AE-5B49-4442-9E03-C8160BEBEF64}" destId="{4FCBFC0C-1BDE-48ED-84E8-11800E552E50}" srcOrd="2" destOrd="0" presId="urn:microsoft.com/office/officeart/2018/2/layout/IconVerticalSolidList"/>
    <dgm:cxn modelId="{C78FF09F-5CEA-47FE-9518-758CECB0A0AF}" type="presParOf" srcId="{35F1C2AE-5B49-4442-9E03-C8160BEBEF64}" destId="{54D0A5A1-A372-4A63-8007-8A3B8BBE841F}" srcOrd="3" destOrd="0" presId="urn:microsoft.com/office/officeart/2018/2/layout/IconVerticalSolidList"/>
    <dgm:cxn modelId="{5E82C8A5-D809-4EC3-A6AE-78472916B47A}" type="presParOf" srcId="{605211F8-DCFD-4323-B8B9-ED4127A34D19}" destId="{9EF45224-D48A-43C9-A680-742F37BC23DF}" srcOrd="5" destOrd="0" presId="urn:microsoft.com/office/officeart/2018/2/layout/IconVerticalSolidList"/>
    <dgm:cxn modelId="{7D6DC73C-A7D6-4BE0-889C-C942D7334AC5}" type="presParOf" srcId="{605211F8-DCFD-4323-B8B9-ED4127A34D19}" destId="{4D51E637-3D4D-4A3B-A4F5-86D847C0778F}" srcOrd="6" destOrd="0" presId="urn:microsoft.com/office/officeart/2018/2/layout/IconVerticalSolidList"/>
    <dgm:cxn modelId="{A9A0D919-32B4-4C78-9ECC-FF8A96E7813A}" type="presParOf" srcId="{4D51E637-3D4D-4A3B-A4F5-86D847C0778F}" destId="{3D7D3B06-244B-43E8-AEE0-C7A5612D2083}" srcOrd="0" destOrd="0" presId="urn:microsoft.com/office/officeart/2018/2/layout/IconVerticalSolidList"/>
    <dgm:cxn modelId="{0F118CD1-447C-4B96-8F03-39124DE017BB}" type="presParOf" srcId="{4D51E637-3D4D-4A3B-A4F5-86D847C0778F}" destId="{2D1E8326-F1A2-43ED-9839-C9455A76E4A9}" srcOrd="1" destOrd="0" presId="urn:microsoft.com/office/officeart/2018/2/layout/IconVerticalSolidList"/>
    <dgm:cxn modelId="{EBDCA10E-04BC-44B9-BBD0-909164649DA1}" type="presParOf" srcId="{4D51E637-3D4D-4A3B-A4F5-86D847C0778F}" destId="{32AD80F8-9F7F-4E3C-BCF0-961BD1F1F685}" srcOrd="2" destOrd="0" presId="urn:microsoft.com/office/officeart/2018/2/layout/IconVerticalSolidList"/>
    <dgm:cxn modelId="{1BEEB5F9-C10A-4BB6-B2F6-C9B154208CA1}" type="presParOf" srcId="{4D51E637-3D4D-4A3B-A4F5-86D847C0778F}" destId="{CE7B3773-B84B-4EF3-ACDE-6F988A4E29FA}" srcOrd="3" destOrd="0" presId="urn:microsoft.com/office/officeart/2018/2/layout/IconVerticalSolidList"/>
    <dgm:cxn modelId="{A290280D-F817-4ABC-9E8F-D658CF845839}" type="presParOf" srcId="{605211F8-DCFD-4323-B8B9-ED4127A34D19}" destId="{2D2FDA2E-2F34-4A1A-881A-91BEC90BBB01}" srcOrd="7" destOrd="0" presId="urn:microsoft.com/office/officeart/2018/2/layout/IconVerticalSolidList"/>
    <dgm:cxn modelId="{C0D45BA6-4C2B-4DB2-A524-2F9981DA227F}" type="presParOf" srcId="{605211F8-DCFD-4323-B8B9-ED4127A34D19}" destId="{DA62593D-7938-4CA3-A13A-F4FF5D9445E3}" srcOrd="8" destOrd="0" presId="urn:microsoft.com/office/officeart/2018/2/layout/IconVerticalSolidList"/>
    <dgm:cxn modelId="{514FBF87-6CB0-4311-A14C-A339BA55DFEB}" type="presParOf" srcId="{DA62593D-7938-4CA3-A13A-F4FF5D9445E3}" destId="{0314D966-AA9D-4E2B-85C6-A5709F80D922}" srcOrd="0" destOrd="0" presId="urn:microsoft.com/office/officeart/2018/2/layout/IconVerticalSolidList"/>
    <dgm:cxn modelId="{2A5DA03F-D7A6-43F5-AE06-7E2D949E3B45}" type="presParOf" srcId="{DA62593D-7938-4CA3-A13A-F4FF5D9445E3}" destId="{3522E1FD-02E9-4D81-BBD8-0D50C527AB85}" srcOrd="1" destOrd="0" presId="urn:microsoft.com/office/officeart/2018/2/layout/IconVerticalSolidList"/>
    <dgm:cxn modelId="{D903C932-92D9-406F-BA7E-FC5404B4389A}" type="presParOf" srcId="{DA62593D-7938-4CA3-A13A-F4FF5D9445E3}" destId="{CE0B9F57-C654-4AAE-A233-9587255F6E86}" srcOrd="2" destOrd="0" presId="urn:microsoft.com/office/officeart/2018/2/layout/IconVerticalSolidList"/>
    <dgm:cxn modelId="{E520054A-A7F2-4688-9C44-7983A0609842}" type="presParOf" srcId="{DA62593D-7938-4CA3-A13A-F4FF5D9445E3}" destId="{E5D58C08-81C1-4DAE-AE5B-28659325365B}" srcOrd="3" destOrd="0" presId="urn:microsoft.com/office/officeart/2018/2/layout/IconVerticalSolidList"/>
    <dgm:cxn modelId="{D393486A-D9FE-4612-945F-2C6DBB864334}" type="presParOf" srcId="{605211F8-DCFD-4323-B8B9-ED4127A34D19}" destId="{A016FBE2-49A7-40AD-B363-B42B580FDE11}" srcOrd="9" destOrd="0" presId="urn:microsoft.com/office/officeart/2018/2/layout/IconVerticalSolidList"/>
    <dgm:cxn modelId="{EC131913-8692-451C-9E18-9A145295655C}" type="presParOf" srcId="{605211F8-DCFD-4323-B8B9-ED4127A34D19}" destId="{957A5909-9E8A-45CF-99E4-868EA5454D28}" srcOrd="10" destOrd="0" presId="urn:microsoft.com/office/officeart/2018/2/layout/IconVerticalSolidList"/>
    <dgm:cxn modelId="{FE1B4EE4-A182-4453-BAD5-E657F382D382}" type="presParOf" srcId="{957A5909-9E8A-45CF-99E4-868EA5454D28}" destId="{ED8219BF-191C-4568-AD59-883C24B6FF6B}" srcOrd="0" destOrd="0" presId="urn:microsoft.com/office/officeart/2018/2/layout/IconVerticalSolidList"/>
    <dgm:cxn modelId="{12988C08-6D4F-4CD5-A35F-E30BD61D6B9A}" type="presParOf" srcId="{957A5909-9E8A-45CF-99E4-868EA5454D28}" destId="{8C73EAC3-4231-43E9-80CC-440E51A9689A}" srcOrd="1" destOrd="0" presId="urn:microsoft.com/office/officeart/2018/2/layout/IconVerticalSolidList"/>
    <dgm:cxn modelId="{192FC8C4-609B-4CAD-8F17-79B2ABCB08C7}" type="presParOf" srcId="{957A5909-9E8A-45CF-99E4-868EA5454D28}" destId="{091DAF0A-6043-4C8F-A971-38EF1E29F742}" srcOrd="2" destOrd="0" presId="urn:microsoft.com/office/officeart/2018/2/layout/IconVerticalSolidList"/>
    <dgm:cxn modelId="{A49F7694-0479-46A3-A1D1-EA8D8F65E476}" type="presParOf" srcId="{957A5909-9E8A-45CF-99E4-868EA5454D28}" destId="{71E25B2D-8286-48B7-82A1-600AB7538F8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0CC5E8F-8574-4034-854F-9BF18C96C7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89E7E3D-F667-47FE-91C1-EA31291AC983}">
      <dgm:prSet/>
      <dgm:spPr/>
      <dgm:t>
        <a:bodyPr/>
        <a:lstStyle/>
        <a:p>
          <a:r>
            <a:rPr lang="en-US" b="0" i="0" baseline="0"/>
            <a:t>The proposed WorkFusion system achieves structured recruitment workflow management</a:t>
          </a:r>
          <a:endParaRPr lang="en-US"/>
        </a:p>
      </dgm:t>
    </dgm:pt>
    <dgm:pt modelId="{88EF01DA-3406-423D-B6FC-DF7BD04C70A5}" type="parTrans" cxnId="{9F28A0DD-F0D1-4756-818A-8286AD190865}">
      <dgm:prSet/>
      <dgm:spPr/>
      <dgm:t>
        <a:bodyPr/>
        <a:lstStyle/>
        <a:p>
          <a:endParaRPr lang="en-US"/>
        </a:p>
      </dgm:t>
    </dgm:pt>
    <dgm:pt modelId="{0F1F87A5-E48C-4304-9EDE-7BB9E51A197D}" type="sibTrans" cxnId="{9F28A0DD-F0D1-4756-818A-8286AD190865}">
      <dgm:prSet/>
      <dgm:spPr/>
      <dgm:t>
        <a:bodyPr/>
        <a:lstStyle/>
        <a:p>
          <a:endParaRPr lang="en-US"/>
        </a:p>
      </dgm:t>
    </dgm:pt>
    <dgm:pt modelId="{93B26D32-650D-42ED-A121-856C59B45262}">
      <dgm:prSet/>
      <dgm:spPr/>
      <dgm:t>
        <a:bodyPr/>
        <a:lstStyle/>
        <a:p>
          <a:r>
            <a:rPr lang="en-US" b="0" i="0" baseline="0"/>
            <a:t>The system enforces controlled application lifecycle transitions</a:t>
          </a:r>
          <a:endParaRPr lang="en-US"/>
        </a:p>
      </dgm:t>
    </dgm:pt>
    <dgm:pt modelId="{3392AF42-3FE5-4399-913A-CC38C48C7FC0}" type="parTrans" cxnId="{D9CDE0B3-A8BB-4D40-BA0C-61CC938DE73C}">
      <dgm:prSet/>
      <dgm:spPr/>
      <dgm:t>
        <a:bodyPr/>
        <a:lstStyle/>
        <a:p>
          <a:endParaRPr lang="en-US"/>
        </a:p>
      </dgm:t>
    </dgm:pt>
    <dgm:pt modelId="{D3242EA5-7794-4C5B-90AB-24113EEEE510}" type="sibTrans" cxnId="{D9CDE0B3-A8BB-4D40-BA0C-61CC938DE73C}">
      <dgm:prSet/>
      <dgm:spPr/>
      <dgm:t>
        <a:bodyPr/>
        <a:lstStyle/>
        <a:p>
          <a:endParaRPr lang="en-US"/>
        </a:p>
      </dgm:t>
    </dgm:pt>
    <dgm:pt modelId="{6797800B-50AF-400E-9418-B225B829E5C6}">
      <dgm:prSet/>
      <dgm:spPr/>
      <dgm:t>
        <a:bodyPr/>
        <a:lstStyle/>
        <a:p>
          <a:r>
            <a:rPr lang="en-US" b="0" i="0" baseline="0"/>
            <a:t>Role-based access control ensures functional separation of users</a:t>
          </a:r>
          <a:endParaRPr lang="en-US"/>
        </a:p>
      </dgm:t>
    </dgm:pt>
    <dgm:pt modelId="{C16246C2-410A-4025-8C03-8187097858E3}" type="parTrans" cxnId="{EF65F311-7E46-4CF9-9E1C-4A24E9F617DC}">
      <dgm:prSet/>
      <dgm:spPr/>
      <dgm:t>
        <a:bodyPr/>
        <a:lstStyle/>
        <a:p>
          <a:endParaRPr lang="en-US"/>
        </a:p>
      </dgm:t>
    </dgm:pt>
    <dgm:pt modelId="{DE0F2B05-8AFA-44FC-A0B5-4ADF277280B3}" type="sibTrans" cxnId="{EF65F311-7E46-4CF9-9E1C-4A24E9F617DC}">
      <dgm:prSet/>
      <dgm:spPr/>
      <dgm:t>
        <a:bodyPr/>
        <a:lstStyle/>
        <a:p>
          <a:endParaRPr lang="en-US"/>
        </a:p>
      </dgm:t>
    </dgm:pt>
    <dgm:pt modelId="{013A1009-4027-4892-AD5E-15832B786164}">
      <dgm:prSet/>
      <dgm:spPr/>
      <dgm:t>
        <a:bodyPr/>
        <a:lstStyle/>
        <a:p>
          <a:r>
            <a:rPr lang="en-US" b="0" i="0" baseline="0"/>
            <a:t>Modular architecture supports maintainability and scalability</a:t>
          </a:r>
          <a:endParaRPr lang="en-US"/>
        </a:p>
      </dgm:t>
    </dgm:pt>
    <dgm:pt modelId="{4FC01F64-D331-4568-B7DC-4EF40941B002}" type="parTrans" cxnId="{9744D383-8220-47A1-B5F0-0DD5BE5AD0AA}">
      <dgm:prSet/>
      <dgm:spPr/>
      <dgm:t>
        <a:bodyPr/>
        <a:lstStyle/>
        <a:p>
          <a:endParaRPr lang="en-US"/>
        </a:p>
      </dgm:t>
    </dgm:pt>
    <dgm:pt modelId="{22451818-A3B1-455D-B0A3-B214F3112BB8}" type="sibTrans" cxnId="{9744D383-8220-47A1-B5F0-0DD5BE5AD0AA}">
      <dgm:prSet/>
      <dgm:spPr/>
      <dgm:t>
        <a:bodyPr/>
        <a:lstStyle/>
        <a:p>
          <a:endParaRPr lang="en-US"/>
        </a:p>
      </dgm:t>
    </dgm:pt>
    <dgm:pt modelId="{B9E21248-E755-4B0A-8CF0-CA2E9FCA054F}">
      <dgm:prSet/>
      <dgm:spPr/>
      <dgm:t>
        <a:bodyPr/>
        <a:lstStyle/>
        <a:p>
          <a:r>
            <a:rPr lang="en-US" b="0" i="0" baseline="0"/>
            <a:t>Implementation validates the feasibility of controlled hiring platforms</a:t>
          </a:r>
          <a:endParaRPr lang="en-US"/>
        </a:p>
      </dgm:t>
    </dgm:pt>
    <dgm:pt modelId="{10C9638D-743F-4FC7-9223-00BCC081F436}" type="parTrans" cxnId="{2AB6C90F-94EF-48A7-B959-3CA77756856F}">
      <dgm:prSet/>
      <dgm:spPr/>
      <dgm:t>
        <a:bodyPr/>
        <a:lstStyle/>
        <a:p>
          <a:endParaRPr lang="en-US"/>
        </a:p>
      </dgm:t>
    </dgm:pt>
    <dgm:pt modelId="{751737FF-BBEF-42A0-BD64-FED29D58DE24}" type="sibTrans" cxnId="{2AB6C90F-94EF-48A7-B959-3CA77756856F}">
      <dgm:prSet/>
      <dgm:spPr/>
      <dgm:t>
        <a:bodyPr/>
        <a:lstStyle/>
        <a:p>
          <a:endParaRPr lang="en-US"/>
        </a:p>
      </dgm:t>
    </dgm:pt>
    <dgm:pt modelId="{8D5D1734-2236-44E8-AE97-DE0D202B2AA2}" type="pres">
      <dgm:prSet presAssocID="{70CC5E8F-8574-4034-854F-9BF18C96C783}" presName="linear" presStyleCnt="0">
        <dgm:presLayoutVars>
          <dgm:animLvl val="lvl"/>
          <dgm:resizeHandles val="exact"/>
        </dgm:presLayoutVars>
      </dgm:prSet>
      <dgm:spPr/>
    </dgm:pt>
    <dgm:pt modelId="{45BA08EF-14CA-4666-A927-13F22088F88D}" type="pres">
      <dgm:prSet presAssocID="{A89E7E3D-F667-47FE-91C1-EA31291AC983}" presName="parentText" presStyleLbl="node1" presStyleIdx="0" presStyleCnt="5">
        <dgm:presLayoutVars>
          <dgm:chMax val="0"/>
          <dgm:bulletEnabled val="1"/>
        </dgm:presLayoutVars>
      </dgm:prSet>
      <dgm:spPr/>
    </dgm:pt>
    <dgm:pt modelId="{162CB377-9884-49A1-A623-E6FFEB3523AB}" type="pres">
      <dgm:prSet presAssocID="{0F1F87A5-E48C-4304-9EDE-7BB9E51A197D}" presName="spacer" presStyleCnt="0"/>
      <dgm:spPr/>
    </dgm:pt>
    <dgm:pt modelId="{2D398A38-B7A3-461D-BF41-9C23C42410D9}" type="pres">
      <dgm:prSet presAssocID="{93B26D32-650D-42ED-A121-856C59B45262}" presName="parentText" presStyleLbl="node1" presStyleIdx="1" presStyleCnt="5">
        <dgm:presLayoutVars>
          <dgm:chMax val="0"/>
          <dgm:bulletEnabled val="1"/>
        </dgm:presLayoutVars>
      </dgm:prSet>
      <dgm:spPr/>
    </dgm:pt>
    <dgm:pt modelId="{55EEA80B-B310-448D-836E-9204C36093A3}" type="pres">
      <dgm:prSet presAssocID="{D3242EA5-7794-4C5B-90AB-24113EEEE510}" presName="spacer" presStyleCnt="0"/>
      <dgm:spPr/>
    </dgm:pt>
    <dgm:pt modelId="{074D2A23-0792-4C8D-9A8D-3333488CCF71}" type="pres">
      <dgm:prSet presAssocID="{6797800B-50AF-400E-9418-B225B829E5C6}" presName="parentText" presStyleLbl="node1" presStyleIdx="2" presStyleCnt="5">
        <dgm:presLayoutVars>
          <dgm:chMax val="0"/>
          <dgm:bulletEnabled val="1"/>
        </dgm:presLayoutVars>
      </dgm:prSet>
      <dgm:spPr/>
    </dgm:pt>
    <dgm:pt modelId="{FEAACA5C-2A0E-49A3-8713-78E24F9F9A09}" type="pres">
      <dgm:prSet presAssocID="{DE0F2B05-8AFA-44FC-A0B5-4ADF277280B3}" presName="spacer" presStyleCnt="0"/>
      <dgm:spPr/>
    </dgm:pt>
    <dgm:pt modelId="{71BCB66E-0AB6-4284-8EE1-474C5DD11932}" type="pres">
      <dgm:prSet presAssocID="{013A1009-4027-4892-AD5E-15832B786164}" presName="parentText" presStyleLbl="node1" presStyleIdx="3" presStyleCnt="5">
        <dgm:presLayoutVars>
          <dgm:chMax val="0"/>
          <dgm:bulletEnabled val="1"/>
        </dgm:presLayoutVars>
      </dgm:prSet>
      <dgm:spPr/>
    </dgm:pt>
    <dgm:pt modelId="{5CA60F51-78CD-41C6-91D0-3EDD8932A144}" type="pres">
      <dgm:prSet presAssocID="{22451818-A3B1-455D-B0A3-B214F3112BB8}" presName="spacer" presStyleCnt="0"/>
      <dgm:spPr/>
    </dgm:pt>
    <dgm:pt modelId="{C8CDA418-D58C-45F6-8A97-BAB4D03B7A1F}" type="pres">
      <dgm:prSet presAssocID="{B9E21248-E755-4B0A-8CF0-CA2E9FCA054F}" presName="parentText" presStyleLbl="node1" presStyleIdx="4" presStyleCnt="5">
        <dgm:presLayoutVars>
          <dgm:chMax val="0"/>
          <dgm:bulletEnabled val="1"/>
        </dgm:presLayoutVars>
      </dgm:prSet>
      <dgm:spPr/>
    </dgm:pt>
  </dgm:ptLst>
  <dgm:cxnLst>
    <dgm:cxn modelId="{2AB6C90F-94EF-48A7-B959-3CA77756856F}" srcId="{70CC5E8F-8574-4034-854F-9BF18C96C783}" destId="{B9E21248-E755-4B0A-8CF0-CA2E9FCA054F}" srcOrd="4" destOrd="0" parTransId="{10C9638D-743F-4FC7-9223-00BCC081F436}" sibTransId="{751737FF-BBEF-42A0-BD64-FED29D58DE24}"/>
    <dgm:cxn modelId="{EF65F311-7E46-4CF9-9E1C-4A24E9F617DC}" srcId="{70CC5E8F-8574-4034-854F-9BF18C96C783}" destId="{6797800B-50AF-400E-9418-B225B829E5C6}" srcOrd="2" destOrd="0" parTransId="{C16246C2-410A-4025-8C03-8187097858E3}" sibTransId="{DE0F2B05-8AFA-44FC-A0B5-4ADF277280B3}"/>
    <dgm:cxn modelId="{37CB691D-1EBE-4963-BAA5-3E5AEA4A4A07}" type="presOf" srcId="{93B26D32-650D-42ED-A121-856C59B45262}" destId="{2D398A38-B7A3-461D-BF41-9C23C42410D9}" srcOrd="0" destOrd="0" presId="urn:microsoft.com/office/officeart/2005/8/layout/vList2"/>
    <dgm:cxn modelId="{D7213121-C30A-4F45-BBE2-AD64DC074CE6}" type="presOf" srcId="{A89E7E3D-F667-47FE-91C1-EA31291AC983}" destId="{45BA08EF-14CA-4666-A927-13F22088F88D}" srcOrd="0" destOrd="0" presId="urn:microsoft.com/office/officeart/2005/8/layout/vList2"/>
    <dgm:cxn modelId="{426A0D5B-3EF2-4C47-B8DB-BBBED199E462}" type="presOf" srcId="{013A1009-4027-4892-AD5E-15832B786164}" destId="{71BCB66E-0AB6-4284-8EE1-474C5DD11932}" srcOrd="0" destOrd="0" presId="urn:microsoft.com/office/officeart/2005/8/layout/vList2"/>
    <dgm:cxn modelId="{9744D383-8220-47A1-B5F0-0DD5BE5AD0AA}" srcId="{70CC5E8F-8574-4034-854F-9BF18C96C783}" destId="{013A1009-4027-4892-AD5E-15832B786164}" srcOrd="3" destOrd="0" parTransId="{4FC01F64-D331-4568-B7DC-4EF40941B002}" sibTransId="{22451818-A3B1-455D-B0A3-B214F3112BB8}"/>
    <dgm:cxn modelId="{85B0D492-4578-4CD7-B42E-B7201B9C8E46}" type="presOf" srcId="{6797800B-50AF-400E-9418-B225B829E5C6}" destId="{074D2A23-0792-4C8D-9A8D-3333488CCF71}" srcOrd="0" destOrd="0" presId="urn:microsoft.com/office/officeart/2005/8/layout/vList2"/>
    <dgm:cxn modelId="{D9CDE0B3-A8BB-4D40-BA0C-61CC938DE73C}" srcId="{70CC5E8F-8574-4034-854F-9BF18C96C783}" destId="{93B26D32-650D-42ED-A121-856C59B45262}" srcOrd="1" destOrd="0" parTransId="{3392AF42-3FE5-4399-913A-CC38C48C7FC0}" sibTransId="{D3242EA5-7794-4C5B-90AB-24113EEEE510}"/>
    <dgm:cxn modelId="{9F2A80D2-2784-461B-A46F-108BED24A286}" type="presOf" srcId="{B9E21248-E755-4B0A-8CF0-CA2E9FCA054F}" destId="{C8CDA418-D58C-45F6-8A97-BAB4D03B7A1F}" srcOrd="0" destOrd="0" presId="urn:microsoft.com/office/officeart/2005/8/layout/vList2"/>
    <dgm:cxn modelId="{9F28A0DD-F0D1-4756-818A-8286AD190865}" srcId="{70CC5E8F-8574-4034-854F-9BF18C96C783}" destId="{A89E7E3D-F667-47FE-91C1-EA31291AC983}" srcOrd="0" destOrd="0" parTransId="{88EF01DA-3406-423D-B6FC-DF7BD04C70A5}" sibTransId="{0F1F87A5-E48C-4304-9EDE-7BB9E51A197D}"/>
    <dgm:cxn modelId="{DF0571EA-A970-4713-BDFE-E6379C738DF3}" type="presOf" srcId="{70CC5E8F-8574-4034-854F-9BF18C96C783}" destId="{8D5D1734-2236-44E8-AE97-DE0D202B2AA2}" srcOrd="0" destOrd="0" presId="urn:microsoft.com/office/officeart/2005/8/layout/vList2"/>
    <dgm:cxn modelId="{82AAB2A2-A761-4C4F-B508-2CC5693AE4E2}" type="presParOf" srcId="{8D5D1734-2236-44E8-AE97-DE0D202B2AA2}" destId="{45BA08EF-14CA-4666-A927-13F22088F88D}" srcOrd="0" destOrd="0" presId="urn:microsoft.com/office/officeart/2005/8/layout/vList2"/>
    <dgm:cxn modelId="{7430E0DA-3E1C-450E-A22D-E1E4734CDB28}" type="presParOf" srcId="{8D5D1734-2236-44E8-AE97-DE0D202B2AA2}" destId="{162CB377-9884-49A1-A623-E6FFEB3523AB}" srcOrd="1" destOrd="0" presId="urn:microsoft.com/office/officeart/2005/8/layout/vList2"/>
    <dgm:cxn modelId="{DDD4F81F-D327-4483-91A3-2A963BEA7E7D}" type="presParOf" srcId="{8D5D1734-2236-44E8-AE97-DE0D202B2AA2}" destId="{2D398A38-B7A3-461D-BF41-9C23C42410D9}" srcOrd="2" destOrd="0" presId="urn:microsoft.com/office/officeart/2005/8/layout/vList2"/>
    <dgm:cxn modelId="{AC354B94-0BF9-4FFF-A4E0-73AA98E1D589}" type="presParOf" srcId="{8D5D1734-2236-44E8-AE97-DE0D202B2AA2}" destId="{55EEA80B-B310-448D-836E-9204C36093A3}" srcOrd="3" destOrd="0" presId="urn:microsoft.com/office/officeart/2005/8/layout/vList2"/>
    <dgm:cxn modelId="{DD786600-5116-48D1-B281-410B8DDA2D2B}" type="presParOf" srcId="{8D5D1734-2236-44E8-AE97-DE0D202B2AA2}" destId="{074D2A23-0792-4C8D-9A8D-3333488CCF71}" srcOrd="4" destOrd="0" presId="urn:microsoft.com/office/officeart/2005/8/layout/vList2"/>
    <dgm:cxn modelId="{829EBE38-14EC-42C9-B2DC-31D1ADA94239}" type="presParOf" srcId="{8D5D1734-2236-44E8-AE97-DE0D202B2AA2}" destId="{FEAACA5C-2A0E-49A3-8713-78E24F9F9A09}" srcOrd="5" destOrd="0" presId="urn:microsoft.com/office/officeart/2005/8/layout/vList2"/>
    <dgm:cxn modelId="{C994776C-817B-4649-87E7-FDF3FE6AAB54}" type="presParOf" srcId="{8D5D1734-2236-44E8-AE97-DE0D202B2AA2}" destId="{71BCB66E-0AB6-4284-8EE1-474C5DD11932}" srcOrd="6" destOrd="0" presId="urn:microsoft.com/office/officeart/2005/8/layout/vList2"/>
    <dgm:cxn modelId="{E577E531-22FE-4117-B05E-EE97EC8C8788}" type="presParOf" srcId="{8D5D1734-2236-44E8-AE97-DE0D202B2AA2}" destId="{5CA60F51-78CD-41C6-91D0-3EDD8932A144}" srcOrd="7" destOrd="0" presId="urn:microsoft.com/office/officeart/2005/8/layout/vList2"/>
    <dgm:cxn modelId="{DD9FD364-8847-49D5-A0E7-C25838D6A7FE}" type="presParOf" srcId="{8D5D1734-2236-44E8-AE97-DE0D202B2AA2}" destId="{C8CDA418-D58C-45F6-8A97-BAB4D03B7A1F}"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03B48D-959E-4679-BBB3-FBCE326AF3D1}">
      <dsp:nvSpPr>
        <dsp:cNvPr id="0" name=""/>
        <dsp:cNvSpPr/>
      </dsp:nvSpPr>
      <dsp:spPr>
        <a:xfrm>
          <a:off x="1549681" y="13019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2EF6AF-2B07-4285-84BF-CF6227ED6D3C}">
      <dsp:nvSpPr>
        <dsp:cNvPr id="0" name=""/>
        <dsp:cNvSpPr/>
      </dsp:nvSpPr>
      <dsp:spPr>
        <a:xfrm>
          <a:off x="361681" y="2600164"/>
          <a:ext cx="432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WorkFusion platform is designed to support organizations that require a structured and controlled hiring workflow. This includes startups, small businesses, local enterprises such as restaurants or retail stores, and organizations managing full-time, part-time, or contract-based recruitment. The system enables centralized job posting, application tracking, and clearly defined hiring stages within a single platform.</a:t>
          </a:r>
        </a:p>
      </dsp:txBody>
      <dsp:txXfrm>
        <a:off x="361681" y="2600164"/>
        <a:ext cx="4320000" cy="1035000"/>
      </dsp:txXfrm>
    </dsp:sp>
    <dsp:sp modelId="{8EA4A150-4C86-43F4-86B3-ACC007A3B1F9}">
      <dsp:nvSpPr>
        <dsp:cNvPr id="0" name=""/>
        <dsp:cNvSpPr/>
      </dsp:nvSpPr>
      <dsp:spPr>
        <a:xfrm>
          <a:off x="6625681" y="130190"/>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1767B3-009F-42FE-96B8-723A247EDA9C}">
      <dsp:nvSpPr>
        <dsp:cNvPr id="0" name=""/>
        <dsp:cNvSpPr/>
      </dsp:nvSpPr>
      <dsp:spPr>
        <a:xfrm>
          <a:off x="5437681" y="2600164"/>
          <a:ext cx="432000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platform focuses specifically on enforcing role-based access and structured application lifecycle management. It is intended for environments where organized recruitment processes are required, ensuring transparency, workflow control, and proper separation of responsibilities between employers, job seekers, and administrators.</a:t>
          </a:r>
        </a:p>
      </dsp:txBody>
      <dsp:txXfrm>
        <a:off x="5437681" y="2600164"/>
        <a:ext cx="4320000" cy="103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D5CBE-5A79-4CD0-B8D7-4EEFFABB9B3C}">
      <dsp:nvSpPr>
        <dsp:cNvPr id="0" name=""/>
        <dsp:cNvSpPr/>
      </dsp:nvSpPr>
      <dsp:spPr>
        <a:xfrm>
          <a:off x="1744864" y="457266"/>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501060"/>
        <a:ext cx="19259" cy="3851"/>
      </dsp:txXfrm>
    </dsp:sp>
    <dsp:sp modelId="{43AC68EC-5B5D-46B5-885B-8DEC5713C8E0}">
      <dsp:nvSpPr>
        <dsp:cNvPr id="0" name=""/>
        <dsp:cNvSpPr/>
      </dsp:nvSpPr>
      <dsp:spPr>
        <a:xfrm>
          <a:off x="71901" y="557"/>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Frontend Development</a:t>
          </a:r>
          <a:endParaRPr lang="en-US" sz="1600" kern="1200"/>
        </a:p>
      </dsp:txBody>
      <dsp:txXfrm>
        <a:off x="71901" y="557"/>
        <a:ext cx="1674762" cy="1004857"/>
      </dsp:txXfrm>
    </dsp:sp>
    <dsp:sp modelId="{C5078882-66F5-4C3A-A0AC-3AD9E2410809}">
      <dsp:nvSpPr>
        <dsp:cNvPr id="0" name=""/>
        <dsp:cNvSpPr/>
      </dsp:nvSpPr>
      <dsp:spPr>
        <a:xfrm>
          <a:off x="3804823" y="457266"/>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501060"/>
        <a:ext cx="19259" cy="3851"/>
      </dsp:txXfrm>
    </dsp:sp>
    <dsp:sp modelId="{4F9AFDDA-2F56-454C-BEB5-27BE7A4320D9}">
      <dsp:nvSpPr>
        <dsp:cNvPr id="0" name=""/>
        <dsp:cNvSpPr/>
      </dsp:nvSpPr>
      <dsp:spPr>
        <a:xfrm>
          <a:off x="2131860" y="557"/>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React.js</a:t>
          </a:r>
        </a:p>
      </dsp:txBody>
      <dsp:txXfrm>
        <a:off x="2131860" y="557"/>
        <a:ext cx="1674762" cy="1004857"/>
      </dsp:txXfrm>
    </dsp:sp>
    <dsp:sp modelId="{15F319A4-301A-4CBC-816F-5CB2ABEE90A8}">
      <dsp:nvSpPr>
        <dsp:cNvPr id="0" name=""/>
        <dsp:cNvSpPr/>
      </dsp:nvSpPr>
      <dsp:spPr>
        <a:xfrm>
          <a:off x="5864781" y="457266"/>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501060"/>
        <a:ext cx="19259" cy="3851"/>
      </dsp:txXfrm>
    </dsp:sp>
    <dsp:sp modelId="{ECC5E6A2-F24C-48C6-8403-FE0F57446C51}">
      <dsp:nvSpPr>
        <dsp:cNvPr id="0" name=""/>
        <dsp:cNvSpPr/>
      </dsp:nvSpPr>
      <dsp:spPr>
        <a:xfrm>
          <a:off x="4191818" y="557"/>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HTML5</a:t>
          </a:r>
        </a:p>
      </dsp:txBody>
      <dsp:txXfrm>
        <a:off x="4191818" y="557"/>
        <a:ext cx="1674762" cy="1004857"/>
      </dsp:txXfrm>
    </dsp:sp>
    <dsp:sp modelId="{CA601F62-B2E6-4CFF-AF55-7FFC88DBF11A}">
      <dsp:nvSpPr>
        <dsp:cNvPr id="0" name=""/>
        <dsp:cNvSpPr/>
      </dsp:nvSpPr>
      <dsp:spPr>
        <a:xfrm>
          <a:off x="7924739" y="457266"/>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501060"/>
        <a:ext cx="19259" cy="3851"/>
      </dsp:txXfrm>
    </dsp:sp>
    <dsp:sp modelId="{5419CCC9-3611-45F6-85D3-6228EF970207}">
      <dsp:nvSpPr>
        <dsp:cNvPr id="0" name=""/>
        <dsp:cNvSpPr/>
      </dsp:nvSpPr>
      <dsp:spPr>
        <a:xfrm>
          <a:off x="6251776" y="557"/>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CSS3</a:t>
          </a:r>
        </a:p>
      </dsp:txBody>
      <dsp:txXfrm>
        <a:off x="6251776" y="557"/>
        <a:ext cx="1674762" cy="1004857"/>
      </dsp:txXfrm>
    </dsp:sp>
    <dsp:sp modelId="{D552275B-F07E-47F7-884B-020456E6369A}">
      <dsp:nvSpPr>
        <dsp:cNvPr id="0" name=""/>
        <dsp:cNvSpPr/>
      </dsp:nvSpPr>
      <dsp:spPr>
        <a:xfrm>
          <a:off x="909283" y="1003615"/>
          <a:ext cx="8239833" cy="354595"/>
        </a:xfrm>
        <a:custGeom>
          <a:avLst/>
          <a:gdLst/>
          <a:ahLst/>
          <a:cxnLst/>
          <a:rect l="0" t="0" r="0" b="0"/>
          <a:pathLst>
            <a:path>
              <a:moveTo>
                <a:pt x="8239833" y="0"/>
              </a:moveTo>
              <a:lnTo>
                <a:pt x="8239833" y="194397"/>
              </a:lnTo>
              <a:lnTo>
                <a:pt x="0" y="194397"/>
              </a:lnTo>
              <a:lnTo>
                <a:pt x="0" y="354595"/>
              </a:lnTo>
            </a:path>
          </a:pathLst>
        </a:custGeom>
        <a:noFill/>
        <a:ln w="12700"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22979" y="1178987"/>
        <a:ext cx="412441" cy="3851"/>
      </dsp:txXfrm>
    </dsp:sp>
    <dsp:sp modelId="{E1618733-98C3-4917-A0B2-D3864281481D}">
      <dsp:nvSpPr>
        <dsp:cNvPr id="0" name=""/>
        <dsp:cNvSpPr/>
      </dsp:nvSpPr>
      <dsp:spPr>
        <a:xfrm>
          <a:off x="8311735" y="557"/>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JavaScript</a:t>
          </a:r>
        </a:p>
      </dsp:txBody>
      <dsp:txXfrm>
        <a:off x="8311735" y="557"/>
        <a:ext cx="1674762" cy="1004857"/>
      </dsp:txXfrm>
    </dsp:sp>
    <dsp:sp modelId="{44B3C5A7-795E-435F-AB1A-A7D1E8F5B96E}">
      <dsp:nvSpPr>
        <dsp:cNvPr id="0" name=""/>
        <dsp:cNvSpPr/>
      </dsp:nvSpPr>
      <dsp:spPr>
        <a:xfrm>
          <a:off x="1744864" y="1847320"/>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1891114"/>
        <a:ext cx="19259" cy="3851"/>
      </dsp:txXfrm>
    </dsp:sp>
    <dsp:sp modelId="{8898BA64-796E-41F4-B76B-8E1B910AF379}">
      <dsp:nvSpPr>
        <dsp:cNvPr id="0" name=""/>
        <dsp:cNvSpPr/>
      </dsp:nvSpPr>
      <dsp:spPr>
        <a:xfrm>
          <a:off x="71901" y="1390611"/>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Backend Development</a:t>
          </a:r>
          <a:endParaRPr lang="en-US" sz="1600" kern="1200"/>
        </a:p>
      </dsp:txBody>
      <dsp:txXfrm>
        <a:off x="71901" y="1390611"/>
        <a:ext cx="1674762" cy="1004857"/>
      </dsp:txXfrm>
    </dsp:sp>
    <dsp:sp modelId="{5A62F8C9-0BD3-4DA3-AB10-363273BCC31C}">
      <dsp:nvSpPr>
        <dsp:cNvPr id="0" name=""/>
        <dsp:cNvSpPr/>
      </dsp:nvSpPr>
      <dsp:spPr>
        <a:xfrm>
          <a:off x="3804823" y="1847320"/>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1891114"/>
        <a:ext cx="19259" cy="3851"/>
      </dsp:txXfrm>
    </dsp:sp>
    <dsp:sp modelId="{A33E41D0-75B6-436C-9042-812594CFB51C}">
      <dsp:nvSpPr>
        <dsp:cNvPr id="0" name=""/>
        <dsp:cNvSpPr/>
      </dsp:nvSpPr>
      <dsp:spPr>
        <a:xfrm>
          <a:off x="2131860" y="1390611"/>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Node.js</a:t>
          </a:r>
        </a:p>
      </dsp:txBody>
      <dsp:txXfrm>
        <a:off x="2131860" y="1390611"/>
        <a:ext cx="1674762" cy="1004857"/>
      </dsp:txXfrm>
    </dsp:sp>
    <dsp:sp modelId="{E037F3C5-98D4-4F51-B2FD-50CBA2B384C8}">
      <dsp:nvSpPr>
        <dsp:cNvPr id="0" name=""/>
        <dsp:cNvSpPr/>
      </dsp:nvSpPr>
      <dsp:spPr>
        <a:xfrm>
          <a:off x="5864781" y="1847320"/>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1891114"/>
        <a:ext cx="19259" cy="3851"/>
      </dsp:txXfrm>
    </dsp:sp>
    <dsp:sp modelId="{11652459-5633-4EBC-BBF6-C65B5BA30058}">
      <dsp:nvSpPr>
        <dsp:cNvPr id="0" name=""/>
        <dsp:cNvSpPr/>
      </dsp:nvSpPr>
      <dsp:spPr>
        <a:xfrm>
          <a:off x="4191818" y="1390611"/>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Express.js</a:t>
          </a:r>
        </a:p>
      </dsp:txBody>
      <dsp:txXfrm>
        <a:off x="4191818" y="1390611"/>
        <a:ext cx="1674762" cy="1004857"/>
      </dsp:txXfrm>
    </dsp:sp>
    <dsp:sp modelId="{24F6B819-4E12-4EFD-A31D-62CC6A7E8A40}">
      <dsp:nvSpPr>
        <dsp:cNvPr id="0" name=""/>
        <dsp:cNvSpPr/>
      </dsp:nvSpPr>
      <dsp:spPr>
        <a:xfrm>
          <a:off x="7924739" y="1847320"/>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1891114"/>
        <a:ext cx="19259" cy="3851"/>
      </dsp:txXfrm>
    </dsp:sp>
    <dsp:sp modelId="{DE2EDE00-9CE4-47BF-9569-140E397DDC49}">
      <dsp:nvSpPr>
        <dsp:cNvPr id="0" name=""/>
        <dsp:cNvSpPr/>
      </dsp:nvSpPr>
      <dsp:spPr>
        <a:xfrm>
          <a:off x="6251776" y="1390611"/>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Database</a:t>
          </a:r>
          <a:endParaRPr lang="en-US" sz="1600" kern="1200"/>
        </a:p>
      </dsp:txBody>
      <dsp:txXfrm>
        <a:off x="6251776" y="1390611"/>
        <a:ext cx="1674762" cy="1004857"/>
      </dsp:txXfrm>
    </dsp:sp>
    <dsp:sp modelId="{EC02887A-72FB-4825-91ED-C5EAAD59486D}">
      <dsp:nvSpPr>
        <dsp:cNvPr id="0" name=""/>
        <dsp:cNvSpPr/>
      </dsp:nvSpPr>
      <dsp:spPr>
        <a:xfrm>
          <a:off x="909283" y="2393668"/>
          <a:ext cx="8239833" cy="354595"/>
        </a:xfrm>
        <a:custGeom>
          <a:avLst/>
          <a:gdLst/>
          <a:ahLst/>
          <a:cxnLst/>
          <a:rect l="0" t="0" r="0" b="0"/>
          <a:pathLst>
            <a:path>
              <a:moveTo>
                <a:pt x="8239833" y="0"/>
              </a:moveTo>
              <a:lnTo>
                <a:pt x="8239833" y="194397"/>
              </a:lnTo>
              <a:lnTo>
                <a:pt x="0" y="194397"/>
              </a:lnTo>
              <a:lnTo>
                <a:pt x="0" y="354595"/>
              </a:lnTo>
            </a:path>
          </a:pathLst>
        </a:custGeom>
        <a:noFill/>
        <a:ln w="12700"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22979" y="2569040"/>
        <a:ext cx="412441" cy="3851"/>
      </dsp:txXfrm>
    </dsp:sp>
    <dsp:sp modelId="{85B7346B-3476-404A-83A5-1E8CB1E2EE0F}">
      <dsp:nvSpPr>
        <dsp:cNvPr id="0" name=""/>
        <dsp:cNvSpPr/>
      </dsp:nvSpPr>
      <dsp:spPr>
        <a:xfrm>
          <a:off x="8311735" y="1390611"/>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MongoDB (NoSQL Document Database)</a:t>
          </a:r>
        </a:p>
      </dsp:txBody>
      <dsp:txXfrm>
        <a:off x="8311735" y="1390611"/>
        <a:ext cx="1674762" cy="1004857"/>
      </dsp:txXfrm>
    </dsp:sp>
    <dsp:sp modelId="{5A1076D2-048D-4BC6-931B-2A74A102E008}">
      <dsp:nvSpPr>
        <dsp:cNvPr id="0" name=""/>
        <dsp:cNvSpPr/>
      </dsp:nvSpPr>
      <dsp:spPr>
        <a:xfrm>
          <a:off x="1744864" y="3237373"/>
          <a:ext cx="354595" cy="91440"/>
        </a:xfrm>
        <a:custGeom>
          <a:avLst/>
          <a:gdLst/>
          <a:ahLst/>
          <a:cxnLst/>
          <a:rect l="0" t="0" r="0" b="0"/>
          <a:pathLst>
            <a:path>
              <a:moveTo>
                <a:pt x="0" y="45720"/>
              </a:moveTo>
              <a:lnTo>
                <a:pt x="354595"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12532" y="3281167"/>
        <a:ext cx="19259" cy="3851"/>
      </dsp:txXfrm>
    </dsp:sp>
    <dsp:sp modelId="{81F29889-7563-46B7-8122-4E1730DD3CEB}">
      <dsp:nvSpPr>
        <dsp:cNvPr id="0" name=""/>
        <dsp:cNvSpPr/>
      </dsp:nvSpPr>
      <dsp:spPr>
        <a:xfrm>
          <a:off x="71901" y="2780664"/>
          <a:ext cx="1674762" cy="1004857"/>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b="1" kern="1200"/>
            <a:t>Development &amp; Design Tools</a:t>
          </a:r>
          <a:endParaRPr lang="en-US" sz="1600" kern="1200"/>
        </a:p>
      </dsp:txBody>
      <dsp:txXfrm>
        <a:off x="71901" y="2780664"/>
        <a:ext cx="1674762" cy="1004857"/>
      </dsp:txXfrm>
    </dsp:sp>
    <dsp:sp modelId="{3B8726C3-F239-474E-9C86-C7D3EFB1A7A5}">
      <dsp:nvSpPr>
        <dsp:cNvPr id="0" name=""/>
        <dsp:cNvSpPr/>
      </dsp:nvSpPr>
      <dsp:spPr>
        <a:xfrm>
          <a:off x="3804823" y="3237373"/>
          <a:ext cx="354595" cy="91440"/>
        </a:xfrm>
        <a:custGeom>
          <a:avLst/>
          <a:gdLst/>
          <a:ahLst/>
          <a:cxnLst/>
          <a:rect l="0" t="0" r="0" b="0"/>
          <a:pathLst>
            <a:path>
              <a:moveTo>
                <a:pt x="0" y="45720"/>
              </a:moveTo>
              <a:lnTo>
                <a:pt x="354595"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72490" y="3281167"/>
        <a:ext cx="19259" cy="3851"/>
      </dsp:txXfrm>
    </dsp:sp>
    <dsp:sp modelId="{E8E28EAF-3605-495D-95DE-9E5597E4F544}">
      <dsp:nvSpPr>
        <dsp:cNvPr id="0" name=""/>
        <dsp:cNvSpPr/>
      </dsp:nvSpPr>
      <dsp:spPr>
        <a:xfrm>
          <a:off x="2131860" y="2780664"/>
          <a:ext cx="1674762" cy="1004857"/>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Visual Studio Code</a:t>
          </a:r>
        </a:p>
      </dsp:txBody>
      <dsp:txXfrm>
        <a:off x="2131860" y="2780664"/>
        <a:ext cx="1674762" cy="1004857"/>
      </dsp:txXfrm>
    </dsp:sp>
    <dsp:sp modelId="{1F7659A8-A9EC-49BD-AF1A-E29637D77F8D}">
      <dsp:nvSpPr>
        <dsp:cNvPr id="0" name=""/>
        <dsp:cNvSpPr/>
      </dsp:nvSpPr>
      <dsp:spPr>
        <a:xfrm>
          <a:off x="5864781" y="3237373"/>
          <a:ext cx="354595" cy="91440"/>
        </a:xfrm>
        <a:custGeom>
          <a:avLst/>
          <a:gdLst/>
          <a:ahLst/>
          <a:cxnLst/>
          <a:rect l="0" t="0" r="0" b="0"/>
          <a:pathLst>
            <a:path>
              <a:moveTo>
                <a:pt x="0" y="45720"/>
              </a:moveTo>
              <a:lnTo>
                <a:pt x="354595" y="45720"/>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032449" y="3281167"/>
        <a:ext cx="19259" cy="3851"/>
      </dsp:txXfrm>
    </dsp:sp>
    <dsp:sp modelId="{E5F4D131-2858-43FF-8EE8-DD544C4ABC4B}">
      <dsp:nvSpPr>
        <dsp:cNvPr id="0" name=""/>
        <dsp:cNvSpPr/>
      </dsp:nvSpPr>
      <dsp:spPr>
        <a:xfrm>
          <a:off x="4191818" y="2780664"/>
          <a:ext cx="1674762" cy="100485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Postman (API Testing)</a:t>
          </a:r>
        </a:p>
      </dsp:txBody>
      <dsp:txXfrm>
        <a:off x="4191818" y="2780664"/>
        <a:ext cx="1674762" cy="1004857"/>
      </dsp:txXfrm>
    </dsp:sp>
    <dsp:sp modelId="{569CF42D-9687-48BE-A0E0-1B200338F5C0}">
      <dsp:nvSpPr>
        <dsp:cNvPr id="0" name=""/>
        <dsp:cNvSpPr/>
      </dsp:nvSpPr>
      <dsp:spPr>
        <a:xfrm>
          <a:off x="7924739" y="3237373"/>
          <a:ext cx="354595" cy="91440"/>
        </a:xfrm>
        <a:custGeom>
          <a:avLst/>
          <a:gdLst/>
          <a:ahLst/>
          <a:cxnLst/>
          <a:rect l="0" t="0" r="0" b="0"/>
          <a:pathLst>
            <a:path>
              <a:moveTo>
                <a:pt x="0" y="45720"/>
              </a:moveTo>
              <a:lnTo>
                <a:pt x="354595"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92407" y="3281167"/>
        <a:ext cx="19259" cy="3851"/>
      </dsp:txXfrm>
    </dsp:sp>
    <dsp:sp modelId="{B3CB8B89-CA8E-4F9A-9DCE-90E90BC306FA}">
      <dsp:nvSpPr>
        <dsp:cNvPr id="0" name=""/>
        <dsp:cNvSpPr/>
      </dsp:nvSpPr>
      <dsp:spPr>
        <a:xfrm>
          <a:off x="6251776" y="2780664"/>
          <a:ext cx="1674762" cy="100485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Git (Version Control)</a:t>
          </a:r>
        </a:p>
      </dsp:txBody>
      <dsp:txXfrm>
        <a:off x="6251776" y="2780664"/>
        <a:ext cx="1674762" cy="1004857"/>
      </dsp:txXfrm>
    </dsp:sp>
    <dsp:sp modelId="{8F764425-B08A-43D4-8673-ACDCC5846A9F}">
      <dsp:nvSpPr>
        <dsp:cNvPr id="0" name=""/>
        <dsp:cNvSpPr/>
      </dsp:nvSpPr>
      <dsp:spPr>
        <a:xfrm>
          <a:off x="8311735" y="2780664"/>
          <a:ext cx="1674762" cy="1004857"/>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065" tIns="86141" rIns="82065" bIns="86141" numCol="1" spcCol="1270" anchor="ctr" anchorCtr="0">
          <a:noAutofit/>
        </a:bodyPr>
        <a:lstStyle/>
        <a:p>
          <a:pPr marL="0" lvl="0" indent="0" algn="ctr" defTabSz="711200">
            <a:lnSpc>
              <a:spcPct val="90000"/>
            </a:lnSpc>
            <a:spcBef>
              <a:spcPct val="0"/>
            </a:spcBef>
            <a:spcAft>
              <a:spcPct val="35000"/>
            </a:spcAft>
            <a:buNone/>
          </a:pPr>
          <a:r>
            <a:rPr lang="en-US" sz="1600" kern="1200"/>
            <a:t>PlantUML / Draw.io (System Modeling)</a:t>
          </a:r>
        </a:p>
      </dsp:txBody>
      <dsp:txXfrm>
        <a:off x="8311735" y="2780664"/>
        <a:ext cx="1674762" cy="10048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627230-B0C6-4EC7-83F1-1ADB41D8E760}">
      <dsp:nvSpPr>
        <dsp:cNvPr id="0" name=""/>
        <dsp:cNvSpPr/>
      </dsp:nvSpPr>
      <dsp:spPr>
        <a:xfrm>
          <a:off x="0" y="1827"/>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C8E453-04F4-4E1D-A209-D2D1B84FC50A}">
      <dsp:nvSpPr>
        <dsp:cNvPr id="0" name=""/>
        <dsp:cNvSpPr/>
      </dsp:nvSpPr>
      <dsp:spPr>
        <a:xfrm>
          <a:off x="235585" y="177056"/>
          <a:ext cx="428336" cy="4283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37A371-A20A-4E2C-A193-0B1F91BA44E7}">
      <dsp:nvSpPr>
        <dsp:cNvPr id="0" name=""/>
        <dsp:cNvSpPr/>
      </dsp:nvSpPr>
      <dsp:spPr>
        <a:xfrm>
          <a:off x="899507" y="182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Hiring lifecycle is predefined and not fully customizable</a:t>
          </a:r>
        </a:p>
      </dsp:txBody>
      <dsp:txXfrm>
        <a:off x="899507" y="1827"/>
        <a:ext cx="5898167" cy="778794"/>
      </dsp:txXfrm>
    </dsp:sp>
    <dsp:sp modelId="{6CCEB6F7-E3DE-45E2-9435-4B5915B8B97E}">
      <dsp:nvSpPr>
        <dsp:cNvPr id="0" name=""/>
        <dsp:cNvSpPr/>
      </dsp:nvSpPr>
      <dsp:spPr>
        <a:xfrm>
          <a:off x="0" y="975320"/>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0A9462-9708-4BF3-89B3-445CBFDB8B98}">
      <dsp:nvSpPr>
        <dsp:cNvPr id="0" name=""/>
        <dsp:cNvSpPr/>
      </dsp:nvSpPr>
      <dsp:spPr>
        <a:xfrm>
          <a:off x="235585" y="1150548"/>
          <a:ext cx="428336" cy="4283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A8060F-F515-4F61-AF39-52FF8E7388F1}">
      <dsp:nvSpPr>
        <dsp:cNvPr id="0" name=""/>
        <dsp:cNvSpPr/>
      </dsp:nvSpPr>
      <dsp:spPr>
        <a:xfrm>
          <a:off x="899507" y="97532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Role structure is limited to employer, job seeker, and admin</a:t>
          </a:r>
        </a:p>
      </dsp:txBody>
      <dsp:txXfrm>
        <a:off x="899507" y="975320"/>
        <a:ext cx="5898167" cy="778794"/>
      </dsp:txXfrm>
    </dsp:sp>
    <dsp:sp modelId="{B7B3A240-9946-499B-A70C-306948E447B9}">
      <dsp:nvSpPr>
        <dsp:cNvPr id="0" name=""/>
        <dsp:cNvSpPr/>
      </dsp:nvSpPr>
      <dsp:spPr>
        <a:xfrm>
          <a:off x="0" y="1948812"/>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CDF1AF-F519-42A4-B5F7-87CF40E1A3DA}">
      <dsp:nvSpPr>
        <dsp:cNvPr id="0" name=""/>
        <dsp:cNvSpPr/>
      </dsp:nvSpPr>
      <dsp:spPr>
        <a:xfrm>
          <a:off x="235585" y="2124041"/>
          <a:ext cx="428336" cy="4283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D0A5A1-A372-4A63-8007-8A3B8BBE841F}">
      <dsp:nvSpPr>
        <dsp:cNvPr id="0" name=""/>
        <dsp:cNvSpPr/>
      </dsp:nvSpPr>
      <dsp:spPr>
        <a:xfrm>
          <a:off x="899507" y="1948812"/>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Basic recommendation logic (no machine learning implementation)</a:t>
          </a:r>
        </a:p>
      </dsp:txBody>
      <dsp:txXfrm>
        <a:off x="899507" y="1948812"/>
        <a:ext cx="5898167" cy="778794"/>
      </dsp:txXfrm>
    </dsp:sp>
    <dsp:sp modelId="{3D7D3B06-244B-43E8-AEE0-C7A5612D2083}">
      <dsp:nvSpPr>
        <dsp:cNvPr id="0" name=""/>
        <dsp:cNvSpPr/>
      </dsp:nvSpPr>
      <dsp:spPr>
        <a:xfrm>
          <a:off x="0" y="2922305"/>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1E8326-F1A2-43ED-9839-C9455A76E4A9}">
      <dsp:nvSpPr>
        <dsp:cNvPr id="0" name=""/>
        <dsp:cNvSpPr/>
      </dsp:nvSpPr>
      <dsp:spPr>
        <a:xfrm>
          <a:off x="235585" y="3097533"/>
          <a:ext cx="428336" cy="4283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7B3773-B84B-4EF3-ACDE-6F988A4E29FA}">
      <dsp:nvSpPr>
        <dsp:cNvPr id="0" name=""/>
        <dsp:cNvSpPr/>
      </dsp:nvSpPr>
      <dsp:spPr>
        <a:xfrm>
          <a:off x="899507" y="2922305"/>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Performance optimization for large-scale traffic was not evaluated</a:t>
          </a:r>
        </a:p>
      </dsp:txBody>
      <dsp:txXfrm>
        <a:off x="899507" y="2922305"/>
        <a:ext cx="5898167" cy="778794"/>
      </dsp:txXfrm>
    </dsp:sp>
    <dsp:sp modelId="{0314D966-AA9D-4E2B-85C6-A5709F80D922}">
      <dsp:nvSpPr>
        <dsp:cNvPr id="0" name=""/>
        <dsp:cNvSpPr/>
      </dsp:nvSpPr>
      <dsp:spPr>
        <a:xfrm>
          <a:off x="0" y="3895797"/>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22E1FD-02E9-4D81-BBD8-0D50C527AB85}">
      <dsp:nvSpPr>
        <dsp:cNvPr id="0" name=""/>
        <dsp:cNvSpPr/>
      </dsp:nvSpPr>
      <dsp:spPr>
        <a:xfrm>
          <a:off x="235585" y="4071026"/>
          <a:ext cx="428336" cy="42833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D58C08-81C1-4DAE-AE5B-28659325365B}">
      <dsp:nvSpPr>
        <dsp:cNvPr id="0" name=""/>
        <dsp:cNvSpPr/>
      </dsp:nvSpPr>
      <dsp:spPr>
        <a:xfrm>
          <a:off x="899507" y="389579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Security implementation is basic</a:t>
          </a:r>
        </a:p>
      </dsp:txBody>
      <dsp:txXfrm>
        <a:off x="899507" y="3895797"/>
        <a:ext cx="5898167" cy="778794"/>
      </dsp:txXfrm>
    </dsp:sp>
    <dsp:sp modelId="{ED8219BF-191C-4568-AD59-883C24B6FF6B}">
      <dsp:nvSpPr>
        <dsp:cNvPr id="0" name=""/>
        <dsp:cNvSpPr/>
      </dsp:nvSpPr>
      <dsp:spPr>
        <a:xfrm>
          <a:off x="0" y="4869290"/>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73EAC3-4231-43E9-80CC-440E51A9689A}">
      <dsp:nvSpPr>
        <dsp:cNvPr id="0" name=""/>
        <dsp:cNvSpPr/>
      </dsp:nvSpPr>
      <dsp:spPr>
        <a:xfrm>
          <a:off x="235585" y="5044518"/>
          <a:ext cx="428336" cy="42833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E25B2D-8286-48B7-82A1-600AB7538F81}">
      <dsp:nvSpPr>
        <dsp:cNvPr id="0" name=""/>
        <dsp:cNvSpPr/>
      </dsp:nvSpPr>
      <dsp:spPr>
        <a:xfrm>
          <a:off x="899507" y="486929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US" sz="1900" kern="1200"/>
            <a:t>Deployment intended for demonstration and academic validation</a:t>
          </a:r>
        </a:p>
      </dsp:txBody>
      <dsp:txXfrm>
        <a:off x="899507" y="4869290"/>
        <a:ext cx="5898167" cy="7787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A08EF-14CA-4666-A927-13F22088F88D}">
      <dsp:nvSpPr>
        <dsp:cNvPr id="0" name=""/>
        <dsp:cNvSpPr/>
      </dsp:nvSpPr>
      <dsp:spPr>
        <a:xfrm>
          <a:off x="0" y="89495"/>
          <a:ext cx="6797675" cy="103428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The proposed WorkFusion system achieves structured recruitment workflow management</a:t>
          </a:r>
          <a:endParaRPr lang="en-US" sz="2600" kern="1200"/>
        </a:p>
      </dsp:txBody>
      <dsp:txXfrm>
        <a:off x="50489" y="139984"/>
        <a:ext cx="6696697" cy="933302"/>
      </dsp:txXfrm>
    </dsp:sp>
    <dsp:sp modelId="{2D398A38-B7A3-461D-BF41-9C23C42410D9}">
      <dsp:nvSpPr>
        <dsp:cNvPr id="0" name=""/>
        <dsp:cNvSpPr/>
      </dsp:nvSpPr>
      <dsp:spPr>
        <a:xfrm>
          <a:off x="0" y="1198655"/>
          <a:ext cx="6797675" cy="1034280"/>
        </a:xfrm>
        <a:prstGeom prst="roundRect">
          <a:avLst/>
        </a:prstGeom>
        <a:solidFill>
          <a:schemeClr val="accent2">
            <a:hueOff val="-332956"/>
            <a:satOff val="-147"/>
            <a:lumOff val="39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The system enforces controlled application lifecycle transitions</a:t>
          </a:r>
          <a:endParaRPr lang="en-US" sz="2600" kern="1200"/>
        </a:p>
      </dsp:txBody>
      <dsp:txXfrm>
        <a:off x="50489" y="1249144"/>
        <a:ext cx="6696697" cy="933302"/>
      </dsp:txXfrm>
    </dsp:sp>
    <dsp:sp modelId="{074D2A23-0792-4C8D-9A8D-3333488CCF71}">
      <dsp:nvSpPr>
        <dsp:cNvPr id="0" name=""/>
        <dsp:cNvSpPr/>
      </dsp:nvSpPr>
      <dsp:spPr>
        <a:xfrm>
          <a:off x="0" y="2307815"/>
          <a:ext cx="6797675" cy="1034280"/>
        </a:xfrm>
        <a:prstGeom prst="roundRect">
          <a:avLst/>
        </a:prstGeom>
        <a:solidFill>
          <a:schemeClr val="accent2">
            <a:hueOff val="-665912"/>
            <a:satOff val="-293"/>
            <a:lumOff val="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Role-based access control ensures functional separation of users</a:t>
          </a:r>
          <a:endParaRPr lang="en-US" sz="2600" kern="1200"/>
        </a:p>
      </dsp:txBody>
      <dsp:txXfrm>
        <a:off x="50489" y="2358304"/>
        <a:ext cx="6696697" cy="933302"/>
      </dsp:txXfrm>
    </dsp:sp>
    <dsp:sp modelId="{71BCB66E-0AB6-4284-8EE1-474C5DD11932}">
      <dsp:nvSpPr>
        <dsp:cNvPr id="0" name=""/>
        <dsp:cNvSpPr/>
      </dsp:nvSpPr>
      <dsp:spPr>
        <a:xfrm>
          <a:off x="0" y="3416976"/>
          <a:ext cx="6797675" cy="1034280"/>
        </a:xfrm>
        <a:prstGeom prst="roundRect">
          <a:avLst/>
        </a:prstGeom>
        <a:solidFill>
          <a:schemeClr val="accent2">
            <a:hueOff val="-998868"/>
            <a:satOff val="-440"/>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Modular architecture supports maintainability and scalability</a:t>
          </a:r>
          <a:endParaRPr lang="en-US" sz="2600" kern="1200"/>
        </a:p>
      </dsp:txBody>
      <dsp:txXfrm>
        <a:off x="50489" y="3467465"/>
        <a:ext cx="6696697" cy="933302"/>
      </dsp:txXfrm>
    </dsp:sp>
    <dsp:sp modelId="{C8CDA418-D58C-45F6-8A97-BAB4D03B7A1F}">
      <dsp:nvSpPr>
        <dsp:cNvPr id="0" name=""/>
        <dsp:cNvSpPr/>
      </dsp:nvSpPr>
      <dsp:spPr>
        <a:xfrm>
          <a:off x="0" y="4526136"/>
          <a:ext cx="6797675" cy="1034280"/>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baseline="0"/>
            <a:t>Implementation validates the feasibility of controlled hiring platforms</a:t>
          </a:r>
          <a:endParaRPr lang="en-US" sz="2600" kern="1200"/>
        </a:p>
      </dsp:txBody>
      <dsp:txXfrm>
        <a:off x="50489" y="4576625"/>
        <a:ext cx="6696697" cy="93330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1919B2-E774-4A9C-831B-E82990D32938}" type="datetimeFigureOut">
              <a:rPr lang="en-US" smtClean="0"/>
              <a:t>2/16/2026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06446B-0CA3-4EAA-943B-7AD3F9B033A4}" type="slidenum">
              <a:rPr lang="en-US" smtClean="0"/>
              <a:t>‹#›</a:t>
            </a:fld>
            <a:endParaRPr lang="en-US"/>
          </a:p>
        </p:txBody>
      </p:sp>
    </p:spTree>
    <p:extLst>
      <p:ext uri="{BB962C8B-B14F-4D97-AF65-F5344CB8AC3E}">
        <p14:creationId xmlns:p14="http://schemas.microsoft.com/office/powerpoint/2010/main" val="23837729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7F6CD0-CD8E-465E-9A50-B4D66EE4BBA3}" type="datetimeFigureOut">
              <a:rPr lang="en-US" smtClean="0"/>
              <a:t>2/16/2026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67A4F8-5B7A-4601-A821-13EE6129A189}" type="slidenum">
              <a:rPr lang="en-US" smtClean="0"/>
              <a:t>‹#›</a:t>
            </a:fld>
            <a:endParaRPr lang="en-US"/>
          </a:p>
        </p:txBody>
      </p:sp>
    </p:spTree>
    <p:extLst>
      <p:ext uri="{BB962C8B-B14F-4D97-AF65-F5344CB8AC3E}">
        <p14:creationId xmlns:p14="http://schemas.microsoft.com/office/powerpoint/2010/main" val="2199690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3CDF29-6077-411E-9B08-C031F5796A83}"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1800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2A9E05-8117-449C-BBB1-DEBBB17610DC}"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1308072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E47BDDB-DA15-4C5B-A3BA-A55B9C7F7167}"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709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94D2DB-551A-4914-8550-28F02BFA75DB}" type="datetime1">
              <a:rPr lang="en-US" smtClean="0"/>
              <a:t>2/16/2026</a:t>
            </a:fld>
            <a:endParaRPr lang="en-US"/>
          </a:p>
        </p:txBody>
      </p:sp>
      <p:sp>
        <p:nvSpPr>
          <p:cNvPr id="6" name="Footer Placeholder 5"/>
          <p:cNvSpPr>
            <a:spLocks noGrp="1"/>
          </p:cNvSpPr>
          <p:nvPr>
            <p:ph type="ftr" sz="quarter" idx="11"/>
          </p:nvPr>
        </p:nvSpPr>
        <p:spPr/>
        <p:txBody>
          <a:bodyPr/>
          <a:lstStyle/>
          <a:p>
            <a:r>
              <a:rPr lang="en-US"/>
              <a:t>BSc. Information Engg. Technology</a:t>
            </a:r>
          </a:p>
        </p:txBody>
      </p:sp>
      <p:sp>
        <p:nvSpPr>
          <p:cNvPr id="7" name="Slide Number Placeholder 6"/>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309683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C48414-F9B7-4854-BAB6-41E41C3240AE}" type="datetime1">
              <a:rPr lang="en-US" smtClean="0"/>
              <a:t>2/16/2026</a:t>
            </a:fld>
            <a:endParaRPr lang="en-US"/>
          </a:p>
        </p:txBody>
      </p:sp>
      <p:sp>
        <p:nvSpPr>
          <p:cNvPr id="8" name="Footer Placeholder 7"/>
          <p:cNvSpPr>
            <a:spLocks noGrp="1"/>
          </p:cNvSpPr>
          <p:nvPr>
            <p:ph type="ftr" sz="quarter" idx="11"/>
          </p:nvPr>
        </p:nvSpPr>
        <p:spPr/>
        <p:txBody>
          <a:bodyPr/>
          <a:lstStyle/>
          <a:p>
            <a:r>
              <a:rPr lang="en-US"/>
              <a:t>BSc. Information Engg. Technology</a:t>
            </a:r>
          </a:p>
        </p:txBody>
      </p:sp>
      <p:sp>
        <p:nvSpPr>
          <p:cNvPr id="9" name="Slide Number Placeholder 8"/>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77580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27BDA6-62C1-4C61-A6A8-1648B33123C3}" type="datetime1">
              <a:rPr lang="en-US" smtClean="0"/>
              <a:t>2/16/2026</a:t>
            </a:fld>
            <a:endParaRPr lang="en-US"/>
          </a:p>
        </p:txBody>
      </p:sp>
      <p:sp>
        <p:nvSpPr>
          <p:cNvPr id="4" name="Footer Placeholder 3"/>
          <p:cNvSpPr>
            <a:spLocks noGrp="1"/>
          </p:cNvSpPr>
          <p:nvPr>
            <p:ph type="ftr" sz="quarter" idx="11"/>
          </p:nvPr>
        </p:nvSpPr>
        <p:spPr/>
        <p:txBody>
          <a:bodyPr/>
          <a:lstStyle/>
          <a:p>
            <a:r>
              <a:rPr lang="en-US"/>
              <a:t>BSc. Information Engg. Technology</a:t>
            </a:r>
          </a:p>
        </p:txBody>
      </p:sp>
      <p:sp>
        <p:nvSpPr>
          <p:cNvPr id="5" name="Slide Number Placeholder 4"/>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1243761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9D78039-6505-4619-9397-F7E8200580BA}" type="datetime1">
              <a:rPr lang="en-US" smtClean="0"/>
              <a:t>2/16/2026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BSc. Information Engg. Technology</a:t>
            </a:r>
          </a:p>
        </p:txBody>
      </p:sp>
      <p:sp>
        <p:nvSpPr>
          <p:cNvPr id="9" name="Slide Number Placeholder 8"/>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755185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03742CF-2403-4E41-B8C2-AB7736E3E04E}" type="datetime1">
              <a:rPr lang="en-US" smtClean="0"/>
              <a:t>2/16/2026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BSc. Information Engg. Technology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B15A5F-7F6C-43A1-B098-88BE6151821D}" type="slidenum">
              <a:rPr lang="en-US" smtClean="0"/>
              <a:t>‹#›</a:t>
            </a:fld>
            <a:endParaRPr lang="en-US"/>
          </a:p>
        </p:txBody>
      </p:sp>
    </p:spTree>
    <p:extLst>
      <p:ext uri="{BB962C8B-B14F-4D97-AF65-F5344CB8AC3E}">
        <p14:creationId xmlns:p14="http://schemas.microsoft.com/office/powerpoint/2010/main" val="1556810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9307929-9FC3-4852-884E-72B685B39FCF}" type="datetime1">
              <a:rPr lang="en-US" smtClean="0"/>
              <a:t>2/16/2026</a:t>
            </a:fld>
            <a:endParaRPr lang="en-US"/>
          </a:p>
        </p:txBody>
      </p:sp>
      <p:sp>
        <p:nvSpPr>
          <p:cNvPr id="6" name="Footer Placeholder 5"/>
          <p:cNvSpPr>
            <a:spLocks noGrp="1"/>
          </p:cNvSpPr>
          <p:nvPr>
            <p:ph type="ftr" sz="quarter" idx="11"/>
          </p:nvPr>
        </p:nvSpPr>
        <p:spPr/>
        <p:txBody>
          <a:bodyPr/>
          <a:lstStyle/>
          <a:p>
            <a:r>
              <a:rPr lang="en-US"/>
              <a:t>BSc. Information Engg. Technology</a:t>
            </a:r>
          </a:p>
        </p:txBody>
      </p:sp>
      <p:sp>
        <p:nvSpPr>
          <p:cNvPr id="7" name="Slide Number Placeholder 6"/>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428181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2887F3-4DE0-485B-BC7D-8901F1FC0617}"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3593111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F0D90F-051D-4C77-9415-2BB78A526A88}" type="datetime1">
              <a:rPr lang="en-US" smtClean="0"/>
              <a:t>2/16/2026</a:t>
            </a:fld>
            <a:endParaRPr lang="en-US"/>
          </a:p>
        </p:txBody>
      </p:sp>
      <p:sp>
        <p:nvSpPr>
          <p:cNvPr id="5" name="Footer Placeholder 4"/>
          <p:cNvSpPr>
            <a:spLocks noGrp="1"/>
          </p:cNvSpPr>
          <p:nvPr>
            <p:ph type="ftr" sz="quarter" idx="11"/>
          </p:nvPr>
        </p:nvSpPr>
        <p:spPr/>
        <p:txBody>
          <a:bodyPr/>
          <a:lstStyle/>
          <a:p>
            <a:r>
              <a:rPr lang="en-US"/>
              <a:t>BSc. Information Engg. Technology</a:t>
            </a:r>
          </a:p>
        </p:txBody>
      </p:sp>
      <p:sp>
        <p:nvSpPr>
          <p:cNvPr id="6" name="Slide Number Placeholder 5"/>
          <p:cNvSpPr>
            <a:spLocks noGrp="1"/>
          </p:cNvSpPr>
          <p:nvPr>
            <p:ph type="sldNum" sz="quarter" idx="12"/>
          </p:nvPr>
        </p:nvSpPr>
        <p:spPr/>
        <p:txBody>
          <a:bodyPr/>
          <a:lstStyle/>
          <a:p>
            <a:fld id="{B4B15A5F-7F6C-43A1-B098-88BE6151821D}" type="slidenum">
              <a:rPr lang="en-US" smtClean="0"/>
              <a:t>‹#›</a:t>
            </a:fld>
            <a:endParaRPr lang="en-US"/>
          </a:p>
        </p:txBody>
      </p:sp>
    </p:spTree>
    <p:extLst>
      <p:ext uri="{BB962C8B-B14F-4D97-AF65-F5344CB8AC3E}">
        <p14:creationId xmlns:p14="http://schemas.microsoft.com/office/powerpoint/2010/main" val="23412522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861EB2-5D37-40B0-B6EF-99AF2876D542}" type="datetime1">
              <a:rPr lang="en-US" smtClean="0"/>
              <a:t>2/16/2026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BSc. Information Engg. Technology</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4B15A5F-7F6C-43A1-B098-88BE6151821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1374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362070-691D-44DB-98D4-BC61774B0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A7EFE9C-DAE7-4ECA-BDB2-34E2534B8AB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1323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3836504" y="758952"/>
            <a:ext cx="7319175" cy="3566160"/>
          </a:xfrm>
        </p:spPr>
        <p:txBody>
          <a:bodyPr>
            <a:normAutofit/>
          </a:bodyPr>
          <a:lstStyle/>
          <a:p>
            <a:r>
              <a:rPr b="1" sz="3600">
                <a:latin typeface="Segoe UI"/>
              </a:rPr>
              <a:t>WorkFusion: One Platform For Every Skill</a:t>
            </a:r>
          </a:p>
        </p:txBody>
      </p:sp>
      <p:sp>
        <p:nvSpPr>
          <p:cNvPr id="3" name="Subtitle 2"/>
          <p:cNvSpPr>
            <a:spLocks noGrp="1"/>
          </p:cNvSpPr>
          <p:nvPr>
            <p:ph type="subTitle" idx="1"/>
          </p:nvPr>
        </p:nvSpPr>
        <p:spPr>
          <a:xfrm>
            <a:off x="3836504" y="4455620"/>
            <a:ext cx="7321946" cy="1143000"/>
          </a:xfrm>
        </p:spPr>
        <p:txBody>
          <a:bodyPr>
            <a:normAutofit/>
          </a:bodyPr>
          <a:lstStyle/>
          <a:p>
            <a:pPr>
              <a:spcAft>
                <a:spcPts val="1200"/>
              </a:spcAft>
            </a:pPr>
            <a:r>
              <a:rPr b="1" sz="1800">
                <a:latin typeface="Segoe UI"/>
              </a:rPr>
              <a:t>AI-Powered Hybrid Employment Marketplace
</a:t>
            </a:r>
          </a:p>
          <a:p>
            <a:r>
              <a:rPr sz="1400">
                <a:latin typeface="Segoe UI"/>
              </a:rPr>
              <a:t>Muhammad Sharjeel bin Riaz (F22-BS-CS-016)  |  Hamza Shahzad (F22-BS-CS-048)
Live Demo: work-fusion2026-client-y2f9.vercel.app</a:t>
            </a:r>
          </a:p>
        </p:txBody>
      </p:sp>
      <p:sp>
        <p:nvSpPr>
          <p:cNvPr id="14" name="Rectangle 13">
            <a:extLst>
              <a:ext uri="{FF2B5EF4-FFF2-40B4-BE49-F238E27FC236}">
                <a16:creationId xmlns:a16="http://schemas.microsoft.com/office/drawing/2014/main" id="{3F0CE275-BAEC-48E9-B00C-1B635C68F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A22C524A-01E1-4209-AE20-DA64F7CB1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230BED96-A04D-72FA-6B50-E2D908D87EB1}"/>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foregroundMark x1="17625" y1="34977" x2="46500" y2="70872"/>
                        <a14:foregroundMark x1="50875" y1="70528" x2="57688" y2="55046"/>
                        <a14:foregroundMark x1="45063" y1="55734" x2="54375" y2="45528"/>
                        <a14:foregroundMark x1="42000" y1="47018" x2="49188" y2="30734"/>
                        <a14:foregroundMark x1="52312" y1="27752" x2="53750" y2="26950"/>
                        <a14:foregroundMark x1="56188" y1="34518" x2="82813" y2="44839"/>
                        <a14:foregroundMark x1="54375" y1="25459" x2="54375" y2="25459"/>
                        <a14:foregroundMark x1="53688" y1="26147" x2="53688" y2="26147"/>
                        <a14:foregroundMark x1="53563" y1="27179" x2="53563" y2="27179"/>
                        <a14:foregroundMark x1="53063" y1="27638" x2="53063" y2="27638"/>
                        <a14:foregroundMark x1="52875" y1="28555" x2="52875" y2="28555"/>
                        <a14:backgroundMark x1="46563" y1="70986" x2="46563" y2="70986"/>
                        <a14:backgroundMark x1="46438" y1="71101" x2="46438" y2="71101"/>
                        <a14:backgroundMark x1="53875" y1="27408" x2="53875" y2="27408"/>
                        <a14:backgroundMark x1="53750" y1="27408" x2="53750" y2="27408"/>
                        <a14:backgroundMark x1="53438" y1="27523" x2="53438" y2="27523"/>
                        <a14:backgroundMark x1="53875" y1="27408" x2="53875" y2="27408"/>
                        <a14:backgroundMark x1="54000" y1="27294" x2="54000" y2="27294"/>
                        <a14:backgroundMark x1="53813" y1="27523" x2="53813" y2="27523"/>
                        <a14:backgroundMark x1="53688" y1="27294" x2="53688" y2="27294"/>
                        <a14:backgroundMark x1="53750" y1="27179" x2="53750" y2="27179"/>
                        <a14:backgroundMark x1="54000" y1="27064" x2="54000" y2="27064"/>
                        <a14:backgroundMark x1="53813" y1="27064" x2="53813" y2="27064"/>
                        <a14:backgroundMark x1="53688" y1="26950" x2="53688" y2="26950"/>
                        <a14:backgroundMark x1="53625" y1="26950" x2="53625" y2="26950"/>
                        <a14:backgroundMark x1="53625" y1="26950" x2="53625" y2="26950"/>
                        <a14:backgroundMark x1="53563" y1="27179" x2="53563" y2="27179"/>
                        <a14:backgroundMark x1="53500" y1="27408" x2="53500" y2="27408"/>
                        <a14:backgroundMark x1="53500" y1="27523" x2="53500" y2="27523"/>
                      </a14:backgroundRemoval>
                    </a14:imgEffect>
                  </a14:imgLayer>
                </a14:imgProps>
              </a:ext>
              <a:ext uri="{28A0092B-C50C-407E-A947-70E740481C1C}">
                <a14:useLocalDpi xmlns:a14="http://schemas.microsoft.com/office/drawing/2010/main" val="0"/>
              </a:ext>
            </a:extLst>
          </a:blip>
          <a:stretch>
            <a:fillRect/>
          </a:stretch>
        </p:blipFill>
        <p:spPr>
          <a:xfrm>
            <a:off x="0" y="1719072"/>
            <a:ext cx="4234172" cy="2307623"/>
          </a:xfrm>
          <a:prstGeom prst="rect">
            <a:avLst/>
          </a:prstGeom>
        </p:spPr>
      </p:pic>
    </p:spTree>
    <p:extLst>
      <p:ext uri="{BB962C8B-B14F-4D97-AF65-F5344CB8AC3E}">
        <p14:creationId xmlns:p14="http://schemas.microsoft.com/office/powerpoint/2010/main" val="3506471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286603"/>
            <a:ext cx="10058400" cy="1450757"/>
          </a:xfrm>
        </p:spPr>
        <p:txBody>
          <a:bodyPr>
            <a:normAutofit/>
          </a:bodyPr>
          <a:lstStyle/>
          <a:p>
            <a:pPr/>
            <a:r>
              <a:rPr b="1" sz="3400">
                <a:latin typeface="Segoe UI"/>
              </a:rPr>
              <a:t>Problem Statement</a:t>
            </a:r>
          </a:p>
        </p:txBody>
      </p:sp>
      <p:cxnSp>
        <p:nvCxnSpPr>
          <p:cNvPr id="18" name="Straight Connector 17">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5" name="Graphic 24" descr="Call center">
            <a:extLst>
              <a:ext uri="{FF2B5EF4-FFF2-40B4-BE49-F238E27FC236}">
                <a16:creationId xmlns:a16="http://schemas.microsoft.com/office/drawing/2014/main" id="{4EB1610E-B0D5-2780-5C9A-E564EC64AB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0570" y="2084269"/>
            <a:ext cx="3135109" cy="3135109"/>
          </a:xfrm>
          <a:prstGeom prst="rect">
            <a:avLst/>
          </a:prstGeom>
        </p:spPr>
      </p:pic>
      <p:sp>
        <p:nvSpPr>
          <p:cNvPr id="26" name="Rectangle 25">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3686185" y="6459785"/>
            <a:ext cx="4822804" cy="365125"/>
          </a:xfrm>
        </p:spPr>
        <p:txBody>
          <a:bodyPr>
            <a:normAutofit/>
          </a:bodyPr>
          <a:lstStyle/>
          <a:p>
            <a:pPr algn="ctr">
              <a:spcAft>
                <a:spcPts val="600"/>
              </a:spcAft>
            </a:pPr>
            <a:r>
              <a:rPr sz="950">
                <a:solidFill>
                  <a:srgbClr val="808080"/>
                </a:solidFill>
                <a:latin typeface="Segoe UI"/>
              </a:rPr>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lgn="r">
              <a:spcAft>
                <a:spcPts val="600"/>
              </a:spcAft>
            </a:pPr>
            <a:r>
              <a:rPr sz="1100">
                <a:solidFill>
                  <a:srgbClr val="808080"/>
                </a:solidFill>
                <a:latin typeface="Segoe UI"/>
              </a:rPr>
              <a:t>2</a:t>
            </a:r>
            <a:endParaRPr lang="en-US"/>
          </a:p>
        </p:txBody>
      </p:sp>
      <p:sp>
        <p:nvSpPr>
          <p:cNvPr id="28" name="TextBox 27"/>
          <p:cNvSpPr txBox="1"/>
          <p:nvPr/>
        </p:nvSpPr>
        <p:spPr>
          <a:xfrm>
            <a:off x="1097280" y="1847088"/>
            <a:ext cx="6455664" cy="4023360"/>
          </a:xfrm>
          <a:prstGeom prst="rect">
            <a:avLst/>
          </a:prstGeom>
          <a:noFill/>
        </p:spPr>
        <p:txBody>
          <a:bodyPr wrap="square" lIns="0" tIns="0" rIns="0" bIns="0">
            <a:spAutoFit/>
          </a:bodyPr>
          <a:lstStyle/>
          <a:p>
            <a:pPr>
              <a:lnSpc>
                <a:spcPct val="115000"/>
              </a:lnSpc>
              <a:spcAft>
                <a:spcPts val="800"/>
              </a:spcAft>
            </a:pPr>
            <a:r>
              <a:rPr b="1" sz="1400">
                <a:latin typeface="Segoe UI"/>
              </a:rPr>
              <a:t>• Market Fragmentation: </a:t>
            </a:r>
            <a:r>
              <a:rPr b="0" sz="1400">
                <a:latin typeface="Segoe UI"/>
              </a:rPr>
              <a:t>Employers are forced to use separate portals (Upwork/Fiverr for online freelancing, Rozee.pk for corporate jobs, and informal word-of-mouth for physical services).</a:t>
            </a:r>
          </a:p>
          <a:p>
            <a:pPr>
              <a:lnSpc>
                <a:spcPct val="115000"/>
              </a:lnSpc>
              <a:spcAft>
                <a:spcPts val="800"/>
              </a:spcAft>
            </a:pPr>
            <a:r>
              <a:rPr b="1" sz="1400">
                <a:latin typeface="Segoe UI"/>
              </a:rPr>
              <a:t>• Broken Recruitment Pipelines: </a:t>
            </a:r>
            <a:r>
              <a:rPr b="0" sz="1400">
                <a:latin typeface="Segoe UI"/>
              </a:rPr>
              <a:t>Existing systems lack unified contract-based, structured hiring workflows spanning bidding, scheduling, and milestone releases.</a:t>
            </a:r>
          </a:p>
          <a:p>
            <a:pPr>
              <a:lnSpc>
                <a:spcPct val="115000"/>
              </a:lnSpc>
              <a:spcAft>
                <a:spcPts val="800"/>
              </a:spcAft>
            </a:pPr>
            <a:r>
              <a:rPr b="1" sz="1400">
                <a:latin typeface="Segoe UI"/>
              </a:rPr>
              <a:t>• Opaque &amp; Manual Matching: </a:t>
            </a:r>
            <a:r>
              <a:rPr b="0" sz="1400">
                <a:latin typeface="Segoe UI"/>
              </a:rPr>
              <a:t>Standard platforms offer basic keyword filters rather than smart, explainable matching or automated skill gap feedback.</a:t>
            </a:r>
          </a:p>
          <a:p>
            <a:pPr>
              <a:lnSpc>
                <a:spcPct val="115000"/>
              </a:lnSpc>
              <a:spcAft>
                <a:spcPts val="800"/>
              </a:spcAft>
            </a:pPr>
            <a:r>
              <a:rPr b="1" sz="1400">
                <a:latin typeface="Segoe UI"/>
              </a:rPr>
              <a:t>• Invisible Local Labor: </a:t>
            </a:r>
            <a:r>
              <a:rPr b="0" sz="1400">
                <a:latin typeface="Segoe UI"/>
              </a:rPr>
              <a:t>Qualified physical service workers (electricians, plumbers) remain digitally isolated with no verified reputation index.</a:t>
            </a:r>
          </a:p>
          <a:p>
            <a:pPr>
              <a:lnSpc>
                <a:spcPct val="115000"/>
              </a:lnSpc>
              <a:spcAft>
                <a:spcPts val="800"/>
              </a:spcAft>
            </a:pPr>
            <a:r>
              <a:rPr b="1" sz="1400">
                <a:latin typeface="Segoe UI"/>
              </a:rPr>
              <a:t>• Absence of Security Interlocks: </a:t>
            </a:r>
            <a:r>
              <a:rPr b="0" sz="1400">
                <a:latin typeface="Segoe UI"/>
              </a:rPr>
              <a:t>Crucial communication gates, verified contractor reviews, and escrow milestone guards are completely missing.</a:t>
            </a:r>
          </a:p>
        </p:txBody>
      </p:sp>
    </p:spTree>
    <p:extLst>
      <p:ext uri="{BB962C8B-B14F-4D97-AF65-F5344CB8AC3E}">
        <p14:creationId xmlns:p14="http://schemas.microsoft.com/office/powerpoint/2010/main" val="467090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pPr/>
            <a:r>
              <a:rPr b="1" sz="3400">
                <a:latin typeface="Segoe UI"/>
              </a:rPr>
              <a:t>Literature Review</a:t>
            </a:r>
          </a:p>
        </p:txBody>
      </p:sp>
      <p:sp>
        <p:nvSpPr>
          <p:cNvPr id="27" name="Rectangle 26">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ctr">
              <a:spcAft>
                <a:spcPts val="600"/>
              </a:spcAft>
            </a:pPr>
            <a:r>
              <a:rPr sz="950">
                <a:solidFill>
                  <a:srgbClr val="808080"/>
                </a:solidFill>
                <a:latin typeface="Segoe UI"/>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lgn="r">
              <a:spcAft>
                <a:spcPts val="600"/>
              </a:spcAft>
            </a:pPr>
            <a:r>
              <a:rPr sz="1100">
                <a:solidFill>
                  <a:srgbClr val="808080"/>
                </a:solidFill>
                <a:latin typeface="Segoe UI"/>
              </a:rPr>
              <a:t>3</a:t>
            </a:r>
            <a:endParaRPr lang="en-US">
              <a:solidFill>
                <a:schemeClr val="tx2"/>
              </a:solidFill>
            </a:endParaRPr>
          </a:p>
        </p:txBody>
      </p:sp>
      <p:graphicFrame>
        <p:nvGraphicFramePr>
          <p:cNvPr id="5" name="Content Placeholder 4">
            <a:extLst>
              <a:ext uri="{FF2B5EF4-FFF2-40B4-BE49-F238E27FC236}">
                <a16:creationId xmlns:a16="http://schemas.microsoft.com/office/drawing/2014/main" id="{67EBC344-CED9-4157-55CE-8098E7B44786}"/>
              </a:ext>
            </a:extLst>
          </p:cNvPr>
          <p:cNvGraphicFramePr>
            <a:graphicFrameLocks noGrp="1"/>
          </p:cNvGraphicFramePr>
          <p:nvPr>
            <p:ph idx="1"/>
            <p:extLst>
              <p:ext uri="{D42A27DB-BD31-4B8C-83A1-F6EECF244321}">
                <p14:modId xmlns:p14="http://schemas.microsoft.com/office/powerpoint/2010/main" val="1156761114"/>
              </p:ext>
            </p:extLst>
          </p:nvPr>
        </p:nvGraphicFramePr>
        <p:xfrm>
          <a:off x="4745736" y="1097280"/>
          <a:ext cx="6793992" cy="2926080"/>
        </p:xfrm>
        <a:graphic>
          <a:graphicData uri="http://schemas.openxmlformats.org/drawingml/2006/table">
            <a:tbl>
              <a:tblPr>
                <a:tableStyleId>{5C22544A-7EE6-4342-B048-85BDC9FD1C3A}</a:tableStyleId>
              </a:tblPr>
              <a:tblGrid>
                <a:gridCol w="1445859">
                  <a:extLst>
                    <a:ext uri="{9D8B030D-6E8A-4147-A177-3AD203B41FA5}">
                      <a16:colId xmlns:a16="http://schemas.microsoft.com/office/drawing/2014/main" val="1117644345"/>
                    </a:ext>
                  </a:extLst>
                </a:gridCol>
                <a:gridCol w="1756470">
                  <a:extLst>
                    <a:ext uri="{9D8B030D-6E8A-4147-A177-3AD203B41FA5}">
                      <a16:colId xmlns:a16="http://schemas.microsoft.com/office/drawing/2014/main" val="1965279852"/>
                    </a:ext>
                  </a:extLst>
                </a:gridCol>
                <a:gridCol w="1741680">
                  <a:extLst>
                    <a:ext uri="{9D8B030D-6E8A-4147-A177-3AD203B41FA5}">
                      <a16:colId xmlns:a16="http://schemas.microsoft.com/office/drawing/2014/main" val="1076063541"/>
                    </a:ext>
                  </a:extLst>
                </a:gridCol>
                <a:gridCol w="1853668">
                  <a:extLst>
                    <a:ext uri="{9D8B030D-6E8A-4147-A177-3AD203B41FA5}">
                      <a16:colId xmlns:a16="http://schemas.microsoft.com/office/drawing/2014/main" val="639679447"/>
                    </a:ext>
                  </a:extLst>
                </a:gridCol>
              </a:tblGrid>
              <a:tr h="458675">
                <a:tc>
                  <a:txBody>
                    <a:bodyPr wrap="square"/>
                    <a:lstStyle/>
                    <a:p>
                      <a:pPr algn="ctr">
                        <a:buNone/>
                      </a:pPr>
                      <a:r>
                        <a:rPr sz="1050" b="1">
                          <a:latin typeface="Segoe UI"/>
                        </a:rPr>
                        <a:t>Platform</a:t>
                      </a:r>
                    </a:p>
                  </a:txBody>
                  <a:tcPr marL="105720" marR="105720" marT="52859" marB="52859" anchor="ctr"/>
                </a:tc>
                <a:tc>
                  <a:txBody>
                    <a:bodyPr wrap="square"/>
                    <a:lstStyle/>
                    <a:p>
                      <a:pPr algn="ctr">
                        <a:buNone/>
                      </a:pPr>
                      <a:r>
                        <a:rPr sz="1050" b="1">
                          <a:latin typeface="Segoe UI"/>
                        </a:rPr>
                        <a:t>Focus Area</a:t>
                      </a:r>
                    </a:p>
                  </a:txBody>
                  <a:tcPr marL="105720" marR="105720" marT="52859" marB="52859" anchor="ctr"/>
                </a:tc>
                <a:tc>
                  <a:txBody>
                    <a:bodyPr wrap="square"/>
                    <a:lstStyle/>
                    <a:p>
                      <a:pPr algn="ctr">
                        <a:buNone/>
                      </a:pPr>
                      <a:r>
                        <a:rPr sz="1050" b="1">
                          <a:latin typeface="Segoe UI"/>
                        </a:rPr>
                        <a:t>Strengths</a:t>
                      </a:r>
                    </a:p>
                  </a:txBody>
                  <a:tcPr marL="105720" marR="105720" marT="52859" marB="52859" anchor="ctr"/>
                </a:tc>
                <a:tc>
                  <a:txBody>
                    <a:bodyPr wrap="square"/>
                    <a:lstStyle/>
                    <a:p>
                      <a:pPr algn="ctr">
                        <a:buNone/>
                      </a:pPr>
                      <a:r>
                        <a:rPr sz="1050" b="1">
                          <a:latin typeface="Segoe UI"/>
                        </a:rPr>
                        <a:t>Limitations</a:t>
                      </a:r>
                    </a:p>
                  </a:txBody>
                  <a:tcPr marL="105720" marR="105720" marT="52859" marB="52859" anchor="ctr"/>
                </a:tc>
                <a:extLst>
                  <a:ext uri="{0D108BD9-81ED-4DB2-BD59-A6C34878D82A}">
                    <a16:rowId xmlns:a16="http://schemas.microsoft.com/office/drawing/2014/main" val="3692125625"/>
                  </a:ext>
                </a:extLst>
              </a:tr>
              <a:tr h="1675767">
                <a:tc>
                  <a:txBody>
                    <a:bodyPr wrap="square"/>
                    <a:lstStyle/>
                    <a:p>
                      <a:pPr>
                        <a:buNone/>
                      </a:pPr>
                      <a:r>
                        <a:rPr sz="1050">
                          <a:latin typeface="Segoe UI"/>
                        </a:rPr>
                        <a:t>Upwork</a:t>
                      </a:r>
                    </a:p>
                  </a:txBody>
                  <a:tcPr marL="105720" marR="105720" marT="52859" marB="52859" anchor="ctr"/>
                </a:tc>
                <a:tc>
                  <a:txBody>
                    <a:bodyPr wrap="square"/>
                    <a:lstStyle/>
                    <a:p>
                      <a:pPr>
                        <a:buNone/>
                      </a:pPr>
                      <a:r>
                        <a:rPr sz="1050">
                          <a:latin typeface="Segoe UI"/>
                        </a:rPr>
                        <a:t>Online Freelance Marketplace</a:t>
                      </a:r>
                    </a:p>
                  </a:txBody>
                  <a:tcPr marL="105720" marR="105720" marT="52859" marB="52859" anchor="ctr"/>
                </a:tc>
                <a:tc>
                  <a:txBody>
                    <a:bodyPr wrap="square"/>
                    <a:lstStyle/>
                    <a:p>
                      <a:pPr>
                        <a:buNone/>
                      </a:pPr>
                      <a:r>
                        <a:rPr sz="1050">
                          <a:latin typeface="Segoe UI"/>
                        </a:rPr>
                        <a:t>Large user base, structured payment system</a:t>
                      </a:r>
                    </a:p>
                  </a:txBody>
                  <a:tcPr marL="105720" marR="105720" marT="52859" marB="52859" anchor="ctr"/>
                </a:tc>
                <a:tc>
                  <a:txBody>
                    <a:bodyPr wrap="square"/>
                    <a:lstStyle/>
                    <a:p>
                      <a:pPr>
                        <a:buNone/>
                      </a:pPr>
                      <a:r>
                        <a:rPr sz="1050">
                          <a:latin typeface="Segoe UI"/>
                        </a:rPr>
                        <a:t>Limited enforcement of hiring workflow stages</a:t>
                      </a:r>
                    </a:p>
                  </a:txBody>
                  <a:tcPr marL="105720" marR="105720" marT="52859" marB="52859" anchor="ctr"/>
                </a:tc>
                <a:extLst>
                  <a:ext uri="{0D108BD9-81ED-4DB2-BD59-A6C34878D82A}">
                    <a16:rowId xmlns:a16="http://schemas.microsoft.com/office/drawing/2014/main" val="3616463394"/>
                  </a:ext>
                </a:extLst>
              </a:tr>
              <a:tr h="1371494">
                <a:tc>
                  <a:txBody>
                    <a:bodyPr wrap="square"/>
                    <a:lstStyle/>
                    <a:p>
                      <a:pPr>
                        <a:buNone/>
                      </a:pPr>
                      <a:r>
                        <a:rPr sz="1050">
                          <a:latin typeface="Segoe UI"/>
                        </a:rPr>
                        <a:t>Fiverr</a:t>
                      </a:r>
                    </a:p>
                  </a:txBody>
                  <a:tcPr marL="105720" marR="105720" marT="52859" marB="52859" anchor="ctr"/>
                </a:tc>
                <a:tc>
                  <a:txBody>
                    <a:bodyPr wrap="square"/>
                    <a:lstStyle/>
                    <a:p>
                      <a:pPr>
                        <a:buNone/>
                      </a:pPr>
                      <a:r>
                        <a:rPr sz="1050">
                          <a:latin typeface="Segoe UI"/>
                        </a:rPr>
                        <a:t>Service-based freelance platform</a:t>
                      </a:r>
                    </a:p>
                  </a:txBody>
                  <a:tcPr marL="105720" marR="105720" marT="52859" marB="52859" anchor="ctr"/>
                </a:tc>
                <a:tc>
                  <a:txBody>
                    <a:bodyPr wrap="square"/>
                    <a:lstStyle/>
                    <a:p>
                      <a:pPr>
                        <a:buNone/>
                      </a:pPr>
                      <a:r>
                        <a:rPr sz="1050">
                          <a:latin typeface="Segoe UI"/>
                        </a:rPr>
                        <a:t>Simple gig-based structure</a:t>
                      </a:r>
                    </a:p>
                  </a:txBody>
                  <a:tcPr marL="105720" marR="105720" marT="52859" marB="52859" anchor="ctr"/>
                </a:tc>
                <a:tc>
                  <a:txBody>
                    <a:bodyPr wrap="square"/>
                    <a:lstStyle/>
                    <a:p>
                      <a:pPr>
                        <a:buNone/>
                      </a:pPr>
                      <a:r>
                        <a:rPr sz="1050">
                          <a:latin typeface="Segoe UI"/>
                        </a:rPr>
                        <a:t>Minimal application lifecycle tracking</a:t>
                      </a:r>
                    </a:p>
                  </a:txBody>
                  <a:tcPr marL="105720" marR="105720" marT="52859" marB="52859" anchor="ctr"/>
                </a:tc>
                <a:extLst>
                  <a:ext uri="{0D108BD9-81ED-4DB2-BD59-A6C34878D82A}">
                    <a16:rowId xmlns:a16="http://schemas.microsoft.com/office/drawing/2014/main" val="2693326801"/>
                  </a:ext>
                </a:extLst>
              </a:tr>
              <a:tr h="1675767">
                <a:tc>
                  <a:txBody>
                    <a:bodyPr wrap="square"/>
                    <a:lstStyle/>
                    <a:p>
                      <a:pPr>
                        <a:buNone/>
                      </a:pPr>
                      <a:r>
                        <a:rPr sz="1050">
                          <a:latin typeface="Segoe UI"/>
                        </a:rPr>
                        <a:t>Rozee.pk</a:t>
                      </a:r>
                    </a:p>
                  </a:txBody>
                  <a:tcPr marL="105720" marR="105720" marT="52859" marB="52859" anchor="ctr"/>
                </a:tc>
                <a:tc>
                  <a:txBody>
                    <a:bodyPr wrap="square"/>
                    <a:lstStyle/>
                    <a:p>
                      <a:pPr>
                        <a:buNone/>
                      </a:pPr>
                      <a:r>
                        <a:rPr sz="1050">
                          <a:latin typeface="Segoe UI"/>
                        </a:rPr>
                        <a:t>Online Job Portal (Pakistan)</a:t>
                      </a:r>
                    </a:p>
                  </a:txBody>
                  <a:tcPr marL="105720" marR="105720" marT="52859" marB="52859" anchor="ctr"/>
                </a:tc>
                <a:tc>
                  <a:txBody>
                    <a:bodyPr wrap="square"/>
                    <a:lstStyle/>
                    <a:p>
                      <a:pPr>
                        <a:buNone/>
                      </a:pPr>
                      <a:r>
                        <a:rPr sz="1050">
                          <a:latin typeface="Segoe UI"/>
                        </a:rPr>
                        <a:t>Job listing &amp; employer database</a:t>
                      </a:r>
                    </a:p>
                  </a:txBody>
                  <a:tcPr marL="105720" marR="105720" marT="52859" marB="52859" anchor="ctr"/>
                </a:tc>
                <a:tc>
                  <a:txBody>
                    <a:bodyPr wrap="square"/>
                    <a:lstStyle/>
                    <a:p>
                      <a:pPr>
                        <a:buNone/>
                      </a:pPr>
                      <a:r>
                        <a:rPr sz="1050">
                          <a:latin typeface="Segoe UI"/>
                        </a:rPr>
                        <a:t>Basic workflow control, limited status enforcement</a:t>
                      </a:r>
                    </a:p>
                  </a:txBody>
                  <a:tcPr marL="105720" marR="105720" marT="52859" marB="52859" anchor="ctr"/>
                </a:tc>
                <a:extLst>
                  <a:ext uri="{0D108BD9-81ED-4DB2-BD59-A6C34878D82A}">
                    <a16:rowId xmlns:a16="http://schemas.microsoft.com/office/drawing/2014/main" val="3796721130"/>
                  </a:ext>
                </a:extLst>
              </a:tr>
            </a:tbl>
          </a:graphicData>
        </a:graphic>
      </p:graphicFrame>
      <p:sp>
        <p:nvSpPr>
          <p:cNvPr id="28" name="WorkFusionNoteBox"/>
          <p:cNvSpPr txBox="1"/>
          <p:nvPr/>
        </p:nvSpPr>
        <p:spPr>
          <a:xfrm>
            <a:off x="4745736" y="4389120"/>
            <a:ext cx="6793992" cy="1371600"/>
          </a:xfrm>
          <a:prstGeom prst="rect">
            <a:avLst/>
          </a:prstGeom>
          <a:noFill/>
        </p:spPr>
        <p:txBody>
          <a:bodyPr wrap="square" lIns="0" tIns="0" rIns="0">
            <a:spAutoFit/>
          </a:bodyPr>
          <a:lstStyle/>
          <a:p>
            <a:r>
              <a:rPr b="1" sz="1200">
                <a:latin typeface="Segoe UI"/>
              </a:rPr>
              <a:t>WorkFusion (Our Unified Solution): </a:t>
            </a:r>
            <a:r>
              <a:rPr b="0" sz="1200">
                <a:latin typeface="Segoe UI"/>
              </a:rPr>
              <a:t>Integrates digital freelancing and localized physical services under a strict, interview-gated hiring pipeline with explainable 7-factor weighted AI recommendations (achieving MAP = 1.00 / MRR = 1.00) and milestone feedback.</a:t>
            </a:r>
          </a:p>
        </p:txBody>
      </p:sp>
    </p:spTree>
    <p:extLst>
      <p:ext uri="{BB962C8B-B14F-4D97-AF65-F5344CB8AC3E}">
        <p14:creationId xmlns:p14="http://schemas.microsoft.com/office/powerpoint/2010/main" val="2400430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B82DEB0-A14C-4282-BF74-65BC353AC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dirty="0"/>
              <a:t>/</a:t>
            </a:r>
          </a:p>
        </p:txBody>
      </p:sp>
      <p:sp>
        <p:nvSpPr>
          <p:cNvPr id="2" name="Title 1"/>
          <p:cNvSpPr>
            <a:spLocks noGrp="1"/>
          </p:cNvSpPr>
          <p:nvPr>
            <p:ph type="title"/>
          </p:nvPr>
        </p:nvSpPr>
        <p:spPr>
          <a:xfrm>
            <a:off x="1097280" y="4844374"/>
            <a:ext cx="10058400" cy="1188995"/>
          </a:xfrm>
        </p:spPr>
        <p:txBody>
          <a:bodyPr anchor="ctr">
            <a:normAutofit/>
          </a:bodyPr>
          <a:lstStyle/>
          <a:p>
            <a:pPr algn="ctr"/>
            <a:r>
              <a:rPr b="1" sz="4000">
                <a:latin typeface="Segoe UI"/>
              </a:rPr>
              <a:t>Business Scope &amp; Modules</a:t>
            </a:r>
          </a:p>
        </p:txBody>
      </p:sp>
      <p:sp>
        <p:nvSpPr>
          <p:cNvPr id="8" name="Footer Placeholder 7"/>
          <p:cNvSpPr>
            <a:spLocks noGrp="1"/>
          </p:cNvSpPr>
          <p:nvPr>
            <p:ph type="ftr" sz="quarter" idx="11"/>
          </p:nvPr>
        </p:nvSpPr>
        <p:spPr>
          <a:xfrm>
            <a:off x="3686185" y="6459785"/>
            <a:ext cx="4822804" cy="365125"/>
          </a:xfrm>
        </p:spPr>
        <p:txBody>
          <a:bodyPr>
            <a:normAutofit/>
          </a:bodyPr>
          <a:lstStyle/>
          <a:p>
            <a:pPr algn="ctr">
              <a:spcAft>
                <a:spcPts val="600"/>
              </a:spcAft>
            </a:pPr>
            <a:r>
              <a:rPr sz="950">
                <a:solidFill>
                  <a:srgbClr val="808080"/>
                </a:solidFill>
                <a:latin typeface="Segoe UI"/>
              </a:rPr>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lgn="r">
              <a:spcAft>
                <a:spcPts val="600"/>
              </a:spcAft>
            </a:pPr>
            <a:r>
              <a:rPr sz="1100">
                <a:solidFill>
                  <a:srgbClr val="808080"/>
                </a:solidFill>
                <a:latin typeface="Segoe UI"/>
              </a:rPr>
              <a:t>4</a:t>
            </a:r>
            <a:endParaRPr lang="en-US"/>
          </a:p>
        </p:txBody>
      </p:sp>
    </p:spTree>
    <p:extLst>
      <p:ext uri="{BB962C8B-B14F-4D97-AF65-F5344CB8AC3E}">
        <p14:creationId xmlns:p14="http://schemas.microsoft.com/office/powerpoint/2010/main" val="823431512"/>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b="1" sz="3400">
                <a:latin typeface="Segoe UI"/>
              </a:rPr>
              <a:t>Business Scope &amp; Platform Roles</a:t>
            </a:r>
          </a:p>
        </p:txBody>
      </p:sp>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extBox 27"/>
          <p:cNvSpPr txBox="1"/>
          <p:nvPr/>
        </p:nvSpPr>
        <p:spPr>
          <a:xfrm>
            <a:off x="1097280" y="1965960"/>
            <a:ext cx="4754880" cy="4069080"/>
          </a:xfrm>
          <a:prstGeom prst="rect">
            <a:avLst/>
          </a:prstGeom>
          <a:noFill/>
        </p:spPr>
        <p:txBody>
          <a:bodyPr wrap="square" lIns="0" tIns="0" rIns="0" bIns="0">
            <a:spAutoFit/>
          </a:bodyPr>
          <a:lstStyle/>
          <a:p>
            <a:pPr>
              <a:lnSpc>
                <a:spcPct val="115000"/>
              </a:lnSpc>
              <a:spcAft>
                <a:spcPts val="800"/>
              </a:spcAft>
            </a:pPr>
            <a:r>
              <a:rPr b="1" sz="1300">
                <a:latin typeface="Segoe UI"/>
              </a:rPr>
              <a:t>• Employer Workspace: </a:t>
            </a:r>
            <a:r>
              <a:rPr b="0" sz="1300">
                <a:latin typeface="Segoe UI"/>
              </a:rPr>
              <a:t>Publish digital or local physical jobs, evaluate AI candidate rankings with gap analysis, schedule interviews, and rate completed contracts.</a:t>
            </a:r>
          </a:p>
          <a:p>
            <a:pPr>
              <a:lnSpc>
                <a:spcPct val="115000"/>
              </a:lnSpc>
              <a:spcAft>
                <a:spcPts val="800"/>
              </a:spcAft>
            </a:pPr>
            <a:r>
              <a:rPr b="1" sz="1300">
                <a:latin typeface="Segoe UI"/>
              </a:rPr>
              <a:t>• Service Seeker Workspace: </a:t>
            </a:r>
            <a:r>
              <a:rPr b="0" sz="1300">
                <a:latin typeface="Segoe UI"/>
              </a:rPr>
              <a:t>Build profiles, receive personalized AI recommendations, apply to local/remote gigs, and chat directly once interviewed.</a:t>
            </a:r>
          </a:p>
          <a:p>
            <a:pPr>
              <a:lnSpc>
                <a:spcPct val="115000"/>
              </a:lnSpc>
              <a:spcAft>
                <a:spcPts val="800"/>
              </a:spcAft>
            </a:pPr>
            <a:r>
              <a:rPr b="1" sz="1300">
                <a:latin typeface="Segoe UI"/>
              </a:rPr>
              <a:t>• Administrative Hub: </a:t>
            </a:r>
            <a:r>
              <a:rPr b="0" sz="1300">
                <a:latin typeface="Segoe UI"/>
              </a:rPr>
              <a:t>Manage users, moderate job categories, monitor platform analytics, and suspend/restore accounts safely.</a:t>
            </a:r>
          </a:p>
          <a:p>
            <a:pPr>
              <a:lnSpc>
                <a:spcPct val="115000"/>
              </a:lnSpc>
              <a:spcAft>
                <a:spcPts val="800"/>
              </a:spcAft>
            </a:pPr>
            <a:r>
              <a:rPr b="1" sz="1300">
                <a:latin typeface="Segoe UI"/>
              </a:rPr>
              <a:t>• Twin-City Commute Engine: </a:t>
            </a:r>
            <a:r>
              <a:rPr b="0" sz="1300">
                <a:latin typeface="Segoe UI"/>
              </a:rPr>
              <a:t>Matches localized physical service requests based on commute distance and availability.</a:t>
            </a:r>
          </a:p>
          <a:p>
            <a:pPr>
              <a:lnSpc>
                <a:spcPct val="115000"/>
              </a:lnSpc>
              <a:spcAft>
                <a:spcPts val="800"/>
              </a:spcAft>
            </a:pPr>
            <a:r>
              <a:rPr b="1" sz="1300">
                <a:latin typeface="Segoe UI"/>
              </a:rPr>
              <a:t>• Verified Feedback Loops: </a:t>
            </a:r>
            <a:r>
              <a:rPr b="0" sz="1300">
                <a:latin typeface="Segoe UI"/>
              </a:rPr>
              <a:t>Reviews and rating releases are strictly locked until a job is marked 'Completed' by the employer.</a:t>
            </a:r>
          </a:p>
        </p:txBody>
      </p:sp>
      <p:pic>
        <p:nvPicPr>
          <p:cNvPr id="29" name="Picture 28" descr="homepage.png"/>
          <p:cNvPicPr>
            <a:picLocks noChangeAspect="1"/>
          </p:cNvPicPr>
          <p:nvPr/>
        </p:nvPicPr>
        <p:blipFill>
          <a:blip r:embed="rId2"/>
          <a:stretch>
            <a:fillRect/>
          </a:stretch>
        </p:blipFill>
        <p:spPr>
          <a:xfrm>
            <a:off x="7555192" y="1965960"/>
            <a:ext cx="2290647" cy="4069080"/>
          </a:xfrm>
          <a:prstGeom prst="rect">
            <a:avLst/>
          </a:prstGeom>
        </p:spPr>
      </p:pic>
      <p:sp>
        <p:nvSpPr>
          <p:cNvPr id="30" name="TextBox 29"/>
          <p:cNvSpPr txBox="1"/>
          <p:nvPr/>
        </p:nvSpPr>
        <p:spPr>
          <a:xfrm>
            <a:off x="9902952" y="6464808"/>
            <a:ext cx="1316736" cy="365760"/>
          </a:xfrm>
          <a:prstGeom prst="rect">
            <a:avLst/>
          </a:prstGeom>
          <a:noFill/>
        </p:spPr>
        <p:txBody>
          <a:bodyPr wrap="none">
            <a:spAutoFit/>
          </a:bodyPr>
          <a:lstStyle/>
          <a:p>
            <a:pPr algn="r"/>
            <a:r>
              <a:rPr sz="1100">
                <a:solidFill>
                  <a:srgbClr val="808080"/>
                </a:solidFill>
                <a:latin typeface="Segoe UI"/>
              </a:rPr>
              <a:t>5</a:t>
            </a:r>
          </a:p>
        </p:txBody>
      </p:sp>
      <p:sp>
        <p:nvSpPr>
          <p:cNvPr id="31" name="TextBox 30"/>
          <p:cNvSpPr txBox="1"/>
          <p:nvPr/>
        </p:nvSpPr>
        <p:spPr>
          <a:xfrm>
            <a:off x="3685032" y="6464808"/>
            <a:ext cx="4818888" cy="365760"/>
          </a:xfrm>
          <a:prstGeom prst="rect">
            <a:avLst/>
          </a:prstGeom>
          <a:noFill/>
        </p:spPr>
        <p:txBody>
          <a:bodyPr wrap="none">
            <a:spAutoFit/>
          </a:bodyPr>
          <a:lstStyle/>
          <a:p>
            <a:pPr algn="ctr"/>
            <a:r>
              <a:rPr sz="950">
                <a:solidFill>
                  <a:srgbClr val="808080"/>
                </a:solidFill>
                <a:latin typeface="Segoe UI"/>
              </a:rPr>
              <a:t>BSc. Information Engg. Technology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240A2FC-E2C3-458D-96B4-5DF9028D93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5F097929-F3D6-4D1F-8AFC-CF348171A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 name="Straight Connector 19">
            <a:extLst>
              <a:ext uri="{FF2B5EF4-FFF2-40B4-BE49-F238E27FC236}">
                <a16:creationId xmlns:a16="http://schemas.microsoft.com/office/drawing/2014/main" id="{43074C91-9045-414B-B5F9-567DAE3EE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779F603-B669-4AD6-82F9-E09F7616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89754" y="639097"/>
            <a:ext cx="6253317" cy="3686015"/>
          </a:xfrm>
        </p:spPr>
        <p:txBody>
          <a:bodyPr vert="horz" lIns="91440" tIns="45720" rIns="91440" bIns="45720" rtlCol="0" anchor="b">
            <a:normAutofit/>
          </a:bodyPr>
          <a:lstStyle/>
          <a:p>
            <a:pPr/>
            <a:r>
              <a:rPr b="1" sz="4000">
                <a:latin typeface="Segoe UI"/>
              </a:rPr>
              <a:t>Methodology &amp; Framework</a:t>
            </a:r>
          </a:p>
        </p:txBody>
      </p:sp>
      <p:cxnSp>
        <p:nvCxnSpPr>
          <p:cNvPr id="24" name="Straight Connector 23">
            <a:extLst>
              <a:ext uri="{FF2B5EF4-FFF2-40B4-BE49-F238E27FC236}">
                <a16:creationId xmlns:a16="http://schemas.microsoft.com/office/drawing/2014/main" id="{7ABFD994-C2DC-4E7D-9411-C7FF7813E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C0D1FC6-352C-4C7D-825F-C4E2F6A80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57BED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541AFC2C-CD98-4478-AB71-1A864026D9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47565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ooter Placeholder 9"/>
          <p:cNvSpPr>
            <a:spLocks noGrp="1"/>
          </p:cNvSpPr>
          <p:nvPr>
            <p:ph type="ftr" sz="quarter" idx="11"/>
          </p:nvPr>
        </p:nvSpPr>
        <p:spPr>
          <a:xfrm>
            <a:off x="3686185" y="6459785"/>
            <a:ext cx="4822804" cy="365125"/>
          </a:xfrm>
        </p:spPr>
        <p:txBody>
          <a:bodyPr vert="horz" lIns="91440" tIns="45720" rIns="91440" bIns="45720" rtlCol="0" anchor="ctr">
            <a:normAutofit/>
          </a:bodyPr>
          <a:lstStyle/>
          <a:p>
            <a:pPr algn="ctr">
              <a:spcAft>
                <a:spcPts val="600"/>
              </a:spcAft>
            </a:pPr>
            <a:r>
              <a:rPr sz="950">
                <a:solidFill>
                  <a:srgbClr val="808080"/>
                </a:solidFill>
                <a:latin typeface="Segoe UI"/>
              </a:rPr>
              <a:t>BSc. Information Engg. Technology</a:t>
            </a:r>
          </a:p>
        </p:txBody>
      </p:sp>
      <p:sp>
        <p:nvSpPr>
          <p:cNvPr id="11" name="Slide Number Placeholder 10"/>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lgn="r">
              <a:spcAft>
                <a:spcPts val="600"/>
              </a:spcAft>
            </a:pPr>
            <a:r>
              <a:rPr sz="1100">
                <a:solidFill>
                  <a:srgbClr val="808080"/>
                </a:solidFill>
                <a:latin typeface="Segoe UI"/>
              </a:rPr>
              <a:t>6</a:t>
            </a:r>
            <a:endParaRPr lang="en-US"/>
          </a:p>
        </p:txBody>
      </p:sp>
    </p:spTree>
    <p:extLst>
      <p:ext uri="{BB962C8B-B14F-4D97-AF65-F5344CB8AC3E}">
        <p14:creationId xmlns:p14="http://schemas.microsoft.com/office/powerpoint/2010/main" val="3482060965"/>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b="1" sz="3400">
                <a:latin typeface="Segoe UI"/>
              </a:rPr>
              <a:t>System Architecture &amp; Methodology</a:t>
            </a:r>
          </a:p>
        </p:txBody>
      </p:sp>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extBox 27"/>
          <p:cNvSpPr txBox="1"/>
          <p:nvPr/>
        </p:nvSpPr>
        <p:spPr>
          <a:xfrm>
            <a:off x="1097280" y="1965960"/>
            <a:ext cx="4754880" cy="4069080"/>
          </a:xfrm>
          <a:prstGeom prst="rect">
            <a:avLst/>
          </a:prstGeom>
          <a:noFill/>
        </p:spPr>
        <p:txBody>
          <a:bodyPr wrap="square" lIns="0" tIns="0" rIns="0" bIns="0">
            <a:spAutoFit/>
          </a:bodyPr>
          <a:lstStyle/>
          <a:p>
            <a:pPr>
              <a:lnSpc>
                <a:spcPct val="115000"/>
              </a:lnSpc>
              <a:spcAft>
                <a:spcPts val="800"/>
              </a:spcAft>
            </a:pPr>
            <a:r>
              <a:rPr b="1" sz="1300">
                <a:latin typeface="Segoe UI"/>
              </a:rPr>
              <a:t>• Premium 3-Tier Stack: </a:t>
            </a:r>
            <a:r>
              <a:rPr b="0" sz="1300">
                <a:latin typeface="Segoe UI"/>
              </a:rPr>
              <a:t>Next.js frontend, Node.js + Express API backend orchestrator, and stateless Python FastAPI AI matching microservice.</a:t>
            </a:r>
          </a:p>
          <a:p>
            <a:pPr>
              <a:lnSpc>
                <a:spcPct val="115000"/>
              </a:lnSpc>
              <a:spcAft>
                <a:spcPts val="800"/>
              </a:spcAft>
            </a:pPr>
            <a:r>
              <a:rPr b="1" sz="1300">
                <a:latin typeface="Segoe UI"/>
              </a:rPr>
              <a:t>• Strict Architectural Contract: </a:t>
            </a:r>
            <a:r>
              <a:rPr b="0" sz="1300">
                <a:latin typeface="Segoe UI"/>
              </a:rPr>
              <a:t>The frontend never communicates directly with MongoDB or the Python service; Node.js manages all transactions.</a:t>
            </a:r>
          </a:p>
          <a:p>
            <a:pPr>
              <a:lnSpc>
                <a:spcPct val="115000"/>
              </a:lnSpc>
              <a:spcAft>
                <a:spcPts val="800"/>
              </a:spcAft>
            </a:pPr>
            <a:r>
              <a:rPr b="1" sz="1300">
                <a:latin typeface="Segoe UI"/>
              </a:rPr>
              <a:t>• Stateless Python Matching: </a:t>
            </a:r>
            <a:r>
              <a:rPr b="0" sz="1300">
                <a:latin typeface="Segoe UI"/>
              </a:rPr>
              <a:t>FastAPI service receives clean text profiles via HTTP POST, computes similarities, and returns raw ranking vectors instantly.</a:t>
            </a:r>
          </a:p>
          <a:p>
            <a:pPr>
              <a:lnSpc>
                <a:spcPct val="115000"/>
              </a:lnSpc>
              <a:spcAft>
                <a:spcPts val="800"/>
              </a:spcAft>
            </a:pPr>
            <a:r>
              <a:rPr b="1" sz="1300">
                <a:latin typeface="Segoe UI"/>
              </a:rPr>
              <a:t>• Structured Pipeline Workflow: </a:t>
            </a:r>
            <a:r>
              <a:rPr b="0" sz="1300">
                <a:latin typeface="Segoe UI"/>
              </a:rPr>
              <a:t>Standard development lifecycle followed: Requirement Analysis -&gt; Database Design -&gt; API Controllers -&gt; AI Models -&gt; React Frontend -&gt; Integration Testing.</a:t>
            </a:r>
          </a:p>
          <a:p>
            <a:pPr>
              <a:lnSpc>
                <a:spcPct val="115000"/>
              </a:lnSpc>
              <a:spcAft>
                <a:spcPts val="800"/>
              </a:spcAft>
            </a:pPr>
            <a:r>
              <a:rPr b="1" sz="1300">
                <a:latin typeface="Segoe UI"/>
              </a:rPr>
              <a:t>• Production-Grade Security: </a:t>
            </a:r>
            <a:r>
              <a:rPr b="0" sz="1300">
                <a:latin typeface="Segoe UI"/>
              </a:rPr>
              <a:t>Implements JWT token authorization with HTTP-only refresh cookies, bcrypt hashing, Helmet protection, and rate limiting.</a:t>
            </a:r>
          </a:p>
        </p:txBody>
      </p:sp>
      <p:sp>
        <p:nvSpPr>
          <p:cNvPr id="29" name="Rounded Rectangle 28"/>
          <p:cNvSpPr/>
          <p:nvPr/>
        </p:nvSpPr>
        <p:spPr>
          <a:xfrm>
            <a:off x="6505956" y="1965960"/>
            <a:ext cx="4389120" cy="8686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spcBef>
                <a:spcPts val="0"/>
              </a:spcBef>
            </a:pPr>
            <a:r>
              <a:rPr b="1" sz="1150">
                <a:solidFill>
                  <a:srgbClr val="FFFFFF"/>
                </a:solidFill>
                <a:latin typeface="Segoe UI"/>
              </a:rPr>
              <a:t>Presentation Layer (Next.js)</a:t>
            </a:r>
          </a:p>
          <a:p>
            <a:pPr algn="ctr">
              <a:spcBef>
                <a:spcPts val="200"/>
              </a:spcBef>
            </a:pPr>
            <a:r>
              <a:rPr b="0" sz="950">
                <a:solidFill>
                  <a:srgbClr val="E2E8F0"/>
                </a:solidFill>
                <a:latin typeface="Segoe UI"/>
              </a:rPr>
              <a:t>React 18 • TypeScript • TailwindCSS • Framer Motion</a:t>
            </a:r>
          </a:p>
        </p:txBody>
      </p:sp>
      <p:sp>
        <p:nvSpPr>
          <p:cNvPr id="30" name="Rounded Rectangle 29"/>
          <p:cNvSpPr/>
          <p:nvPr/>
        </p:nvSpPr>
        <p:spPr>
          <a:xfrm>
            <a:off x="6505956" y="3246120"/>
            <a:ext cx="4389120" cy="8686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spcBef>
                <a:spcPts val="0"/>
              </a:spcBef>
            </a:pPr>
            <a:r>
              <a:rPr b="1" sz="1150">
                <a:solidFill>
                  <a:srgbClr val="FFFFFF"/>
                </a:solidFill>
                <a:latin typeface="Segoe UI"/>
              </a:rPr>
              <a:t>Business Logic Layer (Node.js API)</a:t>
            </a:r>
          </a:p>
          <a:p>
            <a:pPr algn="ctr">
              <a:spcBef>
                <a:spcPts val="200"/>
              </a:spcBef>
            </a:pPr>
            <a:r>
              <a:rPr b="0" sz="950">
                <a:solidFill>
                  <a:srgbClr val="E2E8F0"/>
                </a:solidFill>
                <a:latin typeface="Segoe UI"/>
              </a:rPr>
              <a:t>Express.js Orchestrator • Security Middleware • JWT &amp; bcrypt</a:t>
            </a:r>
          </a:p>
        </p:txBody>
      </p:sp>
      <p:sp>
        <p:nvSpPr>
          <p:cNvPr id="31" name="Rounded Rectangle 30"/>
          <p:cNvSpPr/>
          <p:nvPr/>
        </p:nvSpPr>
        <p:spPr>
          <a:xfrm>
            <a:off x="6505956" y="4526280"/>
            <a:ext cx="2103120" cy="868680"/>
          </a:xfrm>
          <a:prstGeom prst="round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spcBef>
                <a:spcPts val="0"/>
              </a:spcBef>
            </a:pPr>
            <a:r>
              <a:rPr b="1" sz="1150">
                <a:solidFill>
                  <a:srgbClr val="FFFFFF"/>
                </a:solidFill>
                <a:latin typeface="Segoe UI"/>
              </a:rPr>
              <a:t>Database (MongoDB Atlas)</a:t>
            </a:r>
          </a:p>
          <a:p>
            <a:pPr algn="ctr">
              <a:spcBef>
                <a:spcPts val="200"/>
              </a:spcBef>
            </a:pPr>
            <a:r>
              <a:rPr b="0" sz="950">
                <a:solidFill>
                  <a:srgbClr val="CBD5E1"/>
                </a:solidFill>
                <a:latin typeface="Segoe UI"/>
              </a:rPr>
              <a:t>Cloud Document Store • Search Indexes</a:t>
            </a:r>
          </a:p>
        </p:txBody>
      </p:sp>
      <p:sp>
        <p:nvSpPr>
          <p:cNvPr id="32" name="Rounded Rectangle 31"/>
          <p:cNvSpPr/>
          <p:nvPr/>
        </p:nvSpPr>
        <p:spPr>
          <a:xfrm>
            <a:off x="8791956" y="4526280"/>
            <a:ext cx="2103120" cy="86868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spcBef>
                <a:spcPts val="0"/>
              </a:spcBef>
            </a:pPr>
            <a:r>
              <a:rPr b="1" sz="1150">
                <a:solidFill>
                  <a:srgbClr val="FFFFFF"/>
                </a:solidFill>
                <a:latin typeface="Segoe UI"/>
              </a:rPr>
              <a:t>AI Recommendation (Python)</a:t>
            </a:r>
          </a:p>
          <a:p>
            <a:pPr algn="ctr">
              <a:spcBef>
                <a:spcPts val="200"/>
              </a:spcBef>
            </a:pPr>
            <a:r>
              <a:rPr b="0" sz="950">
                <a:solidFill>
                  <a:srgbClr val="A7F3D0"/>
                </a:solidFill>
                <a:latin typeface="Segoe UI"/>
              </a:rPr>
              <a:t>FastAPI • scikit-learn • TF-IDF Cosine</a:t>
            </a:r>
          </a:p>
        </p:txBody>
      </p:sp>
      <p:sp>
        <p:nvSpPr>
          <p:cNvPr id="33" name="Down Arrow 32"/>
          <p:cNvSpPr/>
          <p:nvPr/>
        </p:nvSpPr>
        <p:spPr>
          <a:xfrm>
            <a:off x="8563356" y="2898648"/>
            <a:ext cx="27432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own Arrow 33"/>
          <p:cNvSpPr/>
          <p:nvPr/>
        </p:nvSpPr>
        <p:spPr>
          <a:xfrm>
            <a:off x="7420356" y="4178808"/>
            <a:ext cx="27432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own Arrow 34"/>
          <p:cNvSpPr/>
          <p:nvPr/>
        </p:nvSpPr>
        <p:spPr>
          <a:xfrm>
            <a:off x="9706356" y="4178808"/>
            <a:ext cx="274320" cy="27432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02952" y="6464808"/>
            <a:ext cx="1316736" cy="365760"/>
          </a:xfrm>
          <a:prstGeom prst="rect">
            <a:avLst/>
          </a:prstGeom>
          <a:noFill/>
        </p:spPr>
        <p:txBody>
          <a:bodyPr wrap="none">
            <a:spAutoFit/>
          </a:bodyPr>
          <a:lstStyle/>
          <a:p>
            <a:pPr algn="r"/>
            <a:r>
              <a:rPr sz="1100">
                <a:solidFill>
                  <a:srgbClr val="808080"/>
                </a:solidFill>
                <a:latin typeface="Segoe UI"/>
              </a:rPr>
              <a:t>7</a:t>
            </a:r>
          </a:p>
        </p:txBody>
      </p:sp>
      <p:sp>
        <p:nvSpPr>
          <p:cNvPr id="37" name="TextBox 36"/>
          <p:cNvSpPr txBox="1"/>
          <p:nvPr/>
        </p:nvSpPr>
        <p:spPr>
          <a:xfrm>
            <a:off x="3685032" y="6464808"/>
            <a:ext cx="4818888" cy="365760"/>
          </a:xfrm>
          <a:prstGeom prst="rect">
            <a:avLst/>
          </a:prstGeom>
          <a:noFill/>
        </p:spPr>
        <p:txBody>
          <a:bodyPr wrap="none">
            <a:spAutoFit/>
          </a:bodyPr>
          <a:lstStyle/>
          <a:p>
            <a:pPr algn="ctr"/>
            <a:r>
              <a:rPr sz="950">
                <a:solidFill>
                  <a:srgbClr val="808080"/>
                </a:solidFill>
                <a:latin typeface="Segoe UI"/>
              </a:rPr>
              <a:t>BSc. Information Engg. Technology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a:normAutofit/>
          </a:bodyPr>
          <a:lstStyle/>
          <a:p>
            <a:pPr/>
            <a:r>
              <a:rPr b="1" sz="3400">
                <a:latin typeface="Segoe UI"/>
              </a:rPr>
              <a:t>Tools &amp; Technology Stack</a:t>
            </a:r>
          </a:p>
        </p:txBody>
      </p:sp>
      <p:sp>
        <p:nvSpPr>
          <p:cNvPr id="8" name="Footer Placeholder 7"/>
          <p:cNvSpPr>
            <a:spLocks noGrp="1"/>
          </p:cNvSpPr>
          <p:nvPr>
            <p:ph type="ftr" sz="quarter" idx="11"/>
          </p:nvPr>
        </p:nvSpPr>
        <p:spPr>
          <a:xfrm>
            <a:off x="3686185" y="6459785"/>
            <a:ext cx="4822804" cy="365125"/>
          </a:xfrm>
        </p:spPr>
        <p:txBody>
          <a:bodyPr>
            <a:normAutofit/>
          </a:bodyPr>
          <a:lstStyle/>
          <a:p>
            <a:pPr algn="ctr">
              <a:spcAft>
                <a:spcPts val="600"/>
              </a:spcAft>
            </a:pPr>
            <a:r>
              <a:rPr sz="950">
                <a:solidFill>
                  <a:srgbClr val="808080"/>
                </a:solidFill>
                <a:latin typeface="Segoe UI"/>
              </a:rPr>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lgn="r">
              <a:spcAft>
                <a:spcPts val="600"/>
              </a:spcAft>
            </a:pPr>
            <a:r>
              <a:rPr sz="1100">
                <a:solidFill>
                  <a:srgbClr val="808080"/>
                </a:solidFill>
                <a:latin typeface="Segoe UI"/>
              </a:rPr>
              <a:t>8</a:t>
            </a:r>
            <a:endParaRPr lang="en-US"/>
          </a:p>
        </p:txBody>
      </p:sp>
      <p:sp>
        <p:nvSpPr>
          <p:cNvPr id="10" name="TextBox 9"/>
          <p:cNvSpPr txBox="1"/>
          <p:nvPr/>
        </p:nvSpPr>
        <p:spPr>
          <a:xfrm>
            <a:off x="1097280" y="1965960"/>
            <a:ext cx="10058400" cy="4069080"/>
          </a:xfrm>
          <a:prstGeom prst="rect">
            <a:avLst/>
          </a:prstGeom>
          <a:noFill/>
        </p:spPr>
        <p:txBody>
          <a:bodyPr wrap="square" lIns="0" tIns="0" rIns="0" bIns="0">
            <a:spAutoFit/>
          </a:bodyPr>
          <a:lstStyle/>
          <a:p>
            <a:pPr>
              <a:lnSpc>
                <a:spcPct val="115000"/>
              </a:lnSpc>
              <a:spcAft>
                <a:spcPts val="800"/>
              </a:spcAft>
            </a:pPr>
            <a:r>
              <a:rPr b="1" sz="1400">
                <a:latin typeface="Segoe UI"/>
              </a:rPr>
              <a:t>• Frontend Ecosystem: </a:t>
            </a:r>
            <a:r>
              <a:rPr b="0" sz="1400">
                <a:latin typeface="Segoe UI"/>
              </a:rPr>
              <a:t>Next.js 14, React 18, TypeScript, TailwindCSS for responsive layouts, shadcn/ui components, and Framer Motion.</a:t>
            </a:r>
          </a:p>
          <a:p>
            <a:pPr>
              <a:lnSpc>
                <a:spcPct val="115000"/>
              </a:lnSpc>
              <a:spcAft>
                <a:spcPts val="800"/>
              </a:spcAft>
            </a:pPr>
            <a:r>
              <a:rPr b="1" sz="1400">
                <a:latin typeface="Segoe UI"/>
              </a:rPr>
              <a:t>• Backend Orchestration: </a:t>
            </a:r>
            <a:r>
              <a:rPr b="0" sz="1400">
                <a:latin typeface="Segoe UI"/>
              </a:rPr>
              <a:t>Node.js, Express.js REST APIs, Mongoose ODM, JSON Web Tokens (JWT), and bcrypt passwords.</a:t>
            </a:r>
          </a:p>
          <a:p>
            <a:pPr>
              <a:lnSpc>
                <a:spcPct val="115000"/>
              </a:lnSpc>
              <a:spcAft>
                <a:spcPts val="800"/>
              </a:spcAft>
            </a:pPr>
            <a:r>
              <a:rPr b="1" sz="1400">
                <a:latin typeface="Segoe UI"/>
              </a:rPr>
              <a:t>• AI &amp; Recommendation: </a:t>
            </a:r>
            <a:r>
              <a:rPr b="0" sz="1400">
                <a:latin typeface="Segoe UI"/>
              </a:rPr>
              <a:t>Python 3.10, FastAPI, scikit-learn (for NLP, TF-IDF Vectorizer &amp; Cosine Similarity), Pandas, and NumPy.</a:t>
            </a:r>
          </a:p>
          <a:p>
            <a:pPr>
              <a:lnSpc>
                <a:spcPct val="115000"/>
              </a:lnSpc>
              <a:spcAft>
                <a:spcPts val="800"/>
              </a:spcAft>
            </a:pPr>
            <a:r>
              <a:rPr b="1" sz="1400">
                <a:latin typeface="Segoe UI"/>
              </a:rPr>
              <a:t>• Database &amp; Hosting: </a:t>
            </a:r>
            <a:r>
              <a:rPr b="0" sz="1400">
                <a:latin typeface="Segoe UI"/>
              </a:rPr>
              <a:t>Fully managed MongoDB Atlas, Vercel (frontend deployment), and Render (backend and FastAPI hosting).</a:t>
            </a:r>
          </a:p>
          <a:p>
            <a:pPr>
              <a:lnSpc>
                <a:spcPct val="115000"/>
              </a:lnSpc>
              <a:spcAft>
                <a:spcPts val="800"/>
              </a:spcAft>
            </a:pPr>
            <a:r>
              <a:rPr b="1" sz="1400">
                <a:latin typeface="Segoe UI"/>
              </a:rPr>
              <a:t>• Development Tools: </a:t>
            </a:r>
            <a:r>
              <a:rPr b="0" sz="1400">
                <a:latin typeface="Segoe UI"/>
              </a:rPr>
              <a:t>Git, npm, Playwright, and environments configured with secure dot-env variables.</a:t>
            </a:r>
          </a:p>
        </p:txBody>
      </p:sp>
    </p:spTree>
    <p:extLst>
      <p:ext uri="{BB962C8B-B14F-4D97-AF65-F5344CB8AC3E}">
        <p14:creationId xmlns:p14="http://schemas.microsoft.com/office/powerpoint/2010/main" val="3104982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pPr/>
            <a:r>
              <a:rPr b="1" sz="3400">
                <a:latin typeface="Segoe UI"/>
              </a:rPr>
              <a:t>Constraints &amp; Limitations</a:t>
            </a:r>
          </a:p>
        </p:txBody>
      </p:sp>
      <p:sp>
        <p:nvSpPr>
          <p:cNvPr id="19" name="Rectangle 18">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ctr">
              <a:spcAft>
                <a:spcPts val="600"/>
              </a:spcAft>
            </a:pPr>
            <a:r>
              <a:rPr sz="950">
                <a:solidFill>
                  <a:srgbClr val="808080"/>
                </a:solidFill>
                <a:latin typeface="Segoe UI"/>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lgn="r">
              <a:spcAft>
                <a:spcPts val="600"/>
              </a:spcAft>
            </a:pPr>
            <a:r>
              <a:rPr sz="1100">
                <a:solidFill>
                  <a:srgbClr val="808080"/>
                </a:solidFill>
                <a:latin typeface="Segoe UI"/>
              </a:rPr>
              <a:t>9</a:t>
            </a:r>
            <a:endParaRPr lang="en-US">
              <a:solidFill>
                <a:schemeClr val="tx2"/>
              </a:solidFill>
            </a:endParaRPr>
          </a:p>
        </p:txBody>
      </p:sp>
      <p:sp>
        <p:nvSpPr>
          <p:cNvPr id="20" name="TextBox 19"/>
          <p:cNvSpPr txBox="1"/>
          <p:nvPr/>
        </p:nvSpPr>
        <p:spPr>
          <a:xfrm>
            <a:off x="4745736" y="640080"/>
            <a:ext cx="6793992" cy="5650992"/>
          </a:xfrm>
          <a:prstGeom prst="rect">
            <a:avLst/>
          </a:prstGeom>
          <a:noFill/>
        </p:spPr>
        <p:txBody>
          <a:bodyPr wrap="square" lIns="0" tIns="0" rIns="0" bIns="0">
            <a:spAutoFit/>
          </a:bodyPr>
          <a:lstStyle/>
          <a:p>
            <a:pPr>
              <a:lnSpc>
                <a:spcPct val="115000"/>
              </a:lnSpc>
              <a:spcAft>
                <a:spcPts val="1200"/>
              </a:spcAft>
            </a:pPr>
            <a:r>
              <a:rPr b="1" sz="1400">
                <a:latin typeface="Segoe UI"/>
              </a:rPr>
              <a:t>• Simulated Escrow Gateway: </a:t>
            </a:r>
            <a:r>
              <a:rPr b="0" sz="1400">
                <a:latin typeface="Segoe UI"/>
              </a:rPr>
              <a:t>Active financial payment gateways (like Stripe/EasyPaisa) are mocked; contract funding is currently simulated.</a:t>
            </a:r>
          </a:p>
          <a:p>
            <a:pPr>
              <a:lnSpc>
                <a:spcPct val="115000"/>
              </a:lnSpc>
              <a:spcAft>
                <a:spcPts val="1200"/>
              </a:spcAft>
            </a:pPr>
            <a:r>
              <a:rPr b="1" sz="1400">
                <a:latin typeface="Segoe UI"/>
              </a:rPr>
              <a:t>• Web-Only Platform: </a:t>
            </a:r>
            <a:r>
              <a:rPr b="0" sz="1400">
                <a:latin typeface="Segoe UI"/>
              </a:rPr>
              <a:t>Built as a premium responsive web application; native iOS and Android packages are deferred to the future roadmap.</a:t>
            </a:r>
          </a:p>
          <a:p>
            <a:pPr>
              <a:lnSpc>
                <a:spcPct val="115000"/>
              </a:lnSpc>
              <a:spcAft>
                <a:spcPts val="1200"/>
              </a:spcAft>
            </a:pPr>
            <a:r>
              <a:rPr b="1" sz="1400">
                <a:latin typeface="Segoe UI"/>
              </a:rPr>
              <a:t>• Twin-Cities Calibration: </a:t>
            </a:r>
            <a:r>
              <a:rPr b="0" sz="1400">
                <a:latin typeface="Segoe UI"/>
              </a:rPr>
              <a:t>Location proximity scoring and commute radiuses are primarily tailored for Islamabad and Rawalpindi.</a:t>
            </a:r>
          </a:p>
          <a:p>
            <a:pPr>
              <a:lnSpc>
                <a:spcPct val="115000"/>
              </a:lnSpc>
              <a:spcAft>
                <a:spcPts val="1200"/>
              </a:spcAft>
            </a:pPr>
            <a:r>
              <a:rPr b="1" sz="1400">
                <a:latin typeface="Segoe UI"/>
              </a:rPr>
              <a:t>• Communication Interlocks: </a:t>
            </a:r>
            <a:r>
              <a:rPr b="0" sz="1400">
                <a:latin typeface="Segoe UI"/>
              </a:rPr>
              <a:t>Live text chat remains locked until the applicant reaches the 'Interview' stage to prevent recruiter spam.</a:t>
            </a:r>
          </a:p>
          <a:p>
            <a:pPr>
              <a:lnSpc>
                <a:spcPct val="115000"/>
              </a:lnSpc>
              <a:spcAft>
                <a:spcPts val="1200"/>
              </a:spcAft>
            </a:pPr>
            <a:r>
              <a:rPr b="1" sz="1400">
                <a:latin typeface="Segoe UI"/>
              </a:rPr>
              <a:t>• Stateless Recommendation Service: </a:t>
            </a:r>
            <a:r>
              <a:rPr b="0" sz="1400">
                <a:latin typeface="Segoe UI"/>
              </a:rPr>
              <a:t>The Python FastAPI engine does not persist state, recalculating similarity scores dynamically on every request.</a:t>
            </a:r>
          </a:p>
        </p:txBody>
      </p:sp>
    </p:spTree>
    <p:extLst>
      <p:ext uri="{BB962C8B-B14F-4D97-AF65-F5344CB8AC3E}">
        <p14:creationId xmlns:p14="http://schemas.microsoft.com/office/powerpoint/2010/main" val="3037434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a:normAutofit/>
          </a:bodyPr>
          <a:lstStyle/>
          <a:p>
            <a:pPr/>
            <a:r>
              <a:rPr b="1" sz="3400">
                <a:latin typeface="Segoe UI"/>
              </a:rPr>
              <a:t>Work Breakdown &amp; Timelines</a:t>
            </a:r>
            <a:endParaRPr lang="en-US" b="1" dirty="0">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a:xfrm>
            <a:off x="3686185" y="6459785"/>
            <a:ext cx="4822804" cy="365125"/>
          </a:xfrm>
        </p:spPr>
        <p:txBody>
          <a:bodyPr>
            <a:normAutofit/>
          </a:bodyPr>
          <a:lstStyle/>
          <a:p>
            <a:pPr algn="ctr">
              <a:spcAft>
                <a:spcPts val="600"/>
              </a:spcAft>
            </a:pPr>
            <a:r>
              <a:rPr sz="950">
                <a:solidFill>
                  <a:srgbClr val="808080"/>
                </a:solidFill>
                <a:latin typeface="Segoe UI"/>
              </a:rPr>
              <a:t>BSc. Information Engg. Technology</a:t>
            </a:r>
          </a:p>
        </p:txBody>
      </p:sp>
      <p:sp>
        <p:nvSpPr>
          <p:cNvPr id="9" name="Slide Number Placeholder 8"/>
          <p:cNvSpPr>
            <a:spLocks noGrp="1"/>
          </p:cNvSpPr>
          <p:nvPr>
            <p:ph type="sldNum" sz="quarter" idx="12"/>
          </p:nvPr>
        </p:nvSpPr>
        <p:spPr>
          <a:xfrm>
            <a:off x="9900458" y="6459785"/>
            <a:ext cx="1312025" cy="365125"/>
          </a:xfrm>
        </p:spPr>
        <p:txBody>
          <a:bodyPr>
            <a:normAutofit/>
          </a:bodyPr>
          <a:lstStyle/>
          <a:p>
            <a:pPr algn="r">
              <a:spcAft>
                <a:spcPts val="600"/>
              </a:spcAft>
            </a:pPr>
            <a:r>
              <a:rPr sz="1100">
                <a:solidFill>
                  <a:srgbClr val="808080"/>
                </a:solidFill>
                <a:latin typeface="Segoe UI"/>
              </a:rPr>
              <a:t>10</a:t>
            </a:r>
            <a:endParaRPr lang="en-US"/>
          </a:p>
        </p:txBody>
      </p:sp>
      <p:graphicFrame>
        <p:nvGraphicFramePr>
          <p:cNvPr id="7" name="Content Placeholder 6">
            <a:extLst>
              <a:ext uri="{FF2B5EF4-FFF2-40B4-BE49-F238E27FC236}">
                <a16:creationId xmlns:a16="http://schemas.microsoft.com/office/drawing/2014/main" id="{D4432294-2CEA-F160-E190-430B894505B3}"/>
              </a:ext>
            </a:extLst>
          </p:cNvPr>
          <p:cNvGraphicFramePr>
            <a:graphicFrameLocks noGrp="1"/>
          </p:cNvGraphicFramePr>
          <p:nvPr>
            <p:ph idx="1"/>
            <p:extLst>
              <p:ext uri="{D42A27DB-BD31-4B8C-83A1-F6EECF244321}">
                <p14:modId xmlns:p14="http://schemas.microsoft.com/office/powerpoint/2010/main" val="1416513558"/>
              </p:ext>
            </p:extLst>
          </p:nvPr>
        </p:nvGraphicFramePr>
        <p:xfrm>
          <a:off x="2256606" y="2098515"/>
          <a:ext cx="7739116" cy="3786083"/>
        </p:xfrm>
        <a:graphic>
          <a:graphicData uri="http://schemas.openxmlformats.org/drawingml/2006/table">
            <a:tbl>
              <a:tblPr firstRow="1" bandRow="1">
                <a:noFill/>
              </a:tblPr>
              <a:tblGrid>
                <a:gridCol w="697411">
                  <a:extLst>
                    <a:ext uri="{9D8B030D-6E8A-4147-A177-3AD203B41FA5}">
                      <a16:colId xmlns:a16="http://schemas.microsoft.com/office/drawing/2014/main" val="3193593550"/>
                    </a:ext>
                  </a:extLst>
                </a:gridCol>
                <a:gridCol w="2611233">
                  <a:extLst>
                    <a:ext uri="{9D8B030D-6E8A-4147-A177-3AD203B41FA5}">
                      <a16:colId xmlns:a16="http://schemas.microsoft.com/office/drawing/2014/main" val="466567704"/>
                    </a:ext>
                  </a:extLst>
                </a:gridCol>
                <a:gridCol w="943013">
                  <a:extLst>
                    <a:ext uri="{9D8B030D-6E8A-4147-A177-3AD203B41FA5}">
                      <a16:colId xmlns:a16="http://schemas.microsoft.com/office/drawing/2014/main" val="2091167662"/>
                    </a:ext>
                  </a:extLst>
                </a:gridCol>
                <a:gridCol w="943013">
                  <a:extLst>
                    <a:ext uri="{9D8B030D-6E8A-4147-A177-3AD203B41FA5}">
                      <a16:colId xmlns:a16="http://schemas.microsoft.com/office/drawing/2014/main" val="333523776"/>
                    </a:ext>
                  </a:extLst>
                </a:gridCol>
                <a:gridCol w="1185756">
                  <a:extLst>
                    <a:ext uri="{9D8B030D-6E8A-4147-A177-3AD203B41FA5}">
                      <a16:colId xmlns:a16="http://schemas.microsoft.com/office/drawing/2014/main" val="2294479783"/>
                    </a:ext>
                  </a:extLst>
                </a:gridCol>
                <a:gridCol w="1358690">
                  <a:extLst>
                    <a:ext uri="{9D8B030D-6E8A-4147-A177-3AD203B41FA5}">
                      <a16:colId xmlns:a16="http://schemas.microsoft.com/office/drawing/2014/main" val="1521721352"/>
                    </a:ext>
                  </a:extLst>
                </a:gridCol>
              </a:tblGrid>
              <a:tr h="197078">
                <a:tc>
                  <a:txBody>
                    <a:bodyPr wrap="square"/>
                    <a:lstStyle/>
                    <a:p>
                      <a:pPr algn="ctr">
                        <a:buNone/>
                      </a:pPr>
                      <a:r>
                        <a:rPr sz="950" b="1">
                          <a:latin typeface="Segoe UI"/>
                        </a:rPr>
                        <a:t>Phase</a:t>
                      </a:r>
                    </a:p>
                  </a:txBody>
                  <a:tcPr marL="13496" marR="13496" marT="44790" marB="44790" anchor="b">
                    <a:lnL w="12700" cmpd="sng">
                      <a:noFill/>
                    </a:lnL>
                    <a:lnR w="12700" cmpd="sng">
                      <a:noFill/>
                    </a:lnR>
                    <a:lnT w="12700" cmpd="sng">
                      <a:noFill/>
                    </a:lnT>
                    <a:lnB w="38100" cmpd="sng">
                      <a:noFill/>
                    </a:lnB>
                    <a:noFill/>
                  </a:tcPr>
                </a:tc>
                <a:tc>
                  <a:txBody>
                    <a:bodyPr wrap="square"/>
                    <a:lstStyle/>
                    <a:p>
                      <a:pPr algn="ctr">
                        <a:buNone/>
                      </a:pPr>
                      <a:r>
                        <a:rPr sz="950" b="1">
                          <a:latin typeface="Segoe UI"/>
                        </a:rPr>
                        <a:t>Activity</a:t>
                      </a:r>
                    </a:p>
                  </a:txBody>
                  <a:tcPr marL="13496" marR="13496" marT="44790" marB="44790" anchor="b">
                    <a:lnL w="12700" cmpd="sng">
                      <a:noFill/>
                    </a:lnL>
                    <a:lnR w="12700" cmpd="sng">
                      <a:noFill/>
                    </a:lnR>
                    <a:lnT w="12700" cmpd="sng">
                      <a:noFill/>
                    </a:lnT>
                    <a:lnB w="38100" cmpd="sng">
                      <a:noFill/>
                    </a:lnB>
                    <a:noFill/>
                  </a:tcPr>
                </a:tc>
                <a:tc>
                  <a:txBody>
                    <a:bodyPr wrap="square"/>
                    <a:lstStyle/>
                    <a:p>
                      <a:pPr algn="ctr">
                        <a:buNone/>
                      </a:pPr>
                      <a:r>
                        <a:rPr sz="950" b="1">
                          <a:latin typeface="Segoe UI"/>
                        </a:rPr>
                        <a:t>Start Date</a:t>
                      </a:r>
                    </a:p>
                  </a:txBody>
                  <a:tcPr marL="13496" marR="13496" marT="44790" marB="44790" anchor="b">
                    <a:lnL w="12700" cmpd="sng">
                      <a:noFill/>
                    </a:lnL>
                    <a:lnR w="12700" cmpd="sng">
                      <a:noFill/>
                    </a:lnR>
                    <a:lnT w="12700" cmpd="sng">
                      <a:noFill/>
                    </a:lnT>
                    <a:lnB w="38100" cmpd="sng">
                      <a:noFill/>
                    </a:lnB>
                    <a:noFill/>
                  </a:tcPr>
                </a:tc>
                <a:tc>
                  <a:txBody>
                    <a:bodyPr wrap="square"/>
                    <a:lstStyle/>
                    <a:p>
                      <a:pPr algn="ctr">
                        <a:buNone/>
                      </a:pPr>
                      <a:r>
                        <a:rPr sz="950" b="1">
                          <a:latin typeface="Segoe UI"/>
                        </a:rPr>
                        <a:t>End Date</a:t>
                      </a:r>
                    </a:p>
                  </a:txBody>
                  <a:tcPr marL="13496" marR="13496" marT="44790" marB="44790" anchor="b">
                    <a:lnL w="12700" cmpd="sng">
                      <a:noFill/>
                    </a:lnL>
                    <a:lnR w="12700" cmpd="sng">
                      <a:noFill/>
                    </a:lnR>
                    <a:lnT w="12700" cmpd="sng">
                      <a:noFill/>
                    </a:lnT>
                    <a:lnB w="38100" cmpd="sng">
                      <a:noFill/>
                    </a:lnB>
                    <a:noFill/>
                  </a:tcPr>
                </a:tc>
                <a:tc>
                  <a:txBody>
                    <a:bodyPr wrap="square"/>
                    <a:lstStyle/>
                    <a:p>
                      <a:pPr algn="ctr">
                        <a:buNone/>
                      </a:pPr>
                      <a:r>
                        <a:rPr sz="950" b="1">
                          <a:latin typeface="Segoe UI"/>
                        </a:rPr>
                        <a:t>Duration (Days)</a:t>
                      </a:r>
                    </a:p>
                  </a:txBody>
                  <a:tcPr marL="13496" marR="13496" marT="44790" marB="44790" anchor="b">
                    <a:lnL w="12700" cmpd="sng">
                      <a:noFill/>
                    </a:lnL>
                    <a:lnR w="12700" cmpd="sng">
                      <a:noFill/>
                    </a:lnR>
                    <a:lnT w="12700" cmpd="sng">
                      <a:noFill/>
                    </a:lnT>
                    <a:lnB w="38100" cmpd="sng">
                      <a:noFill/>
                    </a:lnB>
                    <a:noFill/>
                  </a:tcPr>
                </a:tc>
                <a:tc>
                  <a:txBody>
                    <a:bodyPr wrap="square"/>
                    <a:lstStyle/>
                    <a:p>
                      <a:pPr algn="ctr">
                        <a:buNone/>
                      </a:pPr>
                      <a:r>
                        <a:rPr sz="950" b="1">
                          <a:latin typeface="Segoe UI"/>
                        </a:rPr>
                        <a:t>Responsible</a:t>
                      </a:r>
                    </a:p>
                  </a:txBody>
                  <a:tcPr marL="13496" marR="13496" marT="44790" marB="44790" anchor="b">
                    <a:lnL w="12700" cmpd="sng">
                      <a:noFill/>
                    </a:lnL>
                    <a:lnR w="12700" cmpd="sng">
                      <a:noFill/>
                    </a:lnR>
                    <a:lnT w="12700" cmpd="sng">
                      <a:noFill/>
                    </a:lnT>
                    <a:lnB w="38100" cmpd="sng">
                      <a:noFill/>
                    </a:lnB>
                    <a:noFill/>
                  </a:tcPr>
                </a:tc>
                <a:extLst>
                  <a:ext uri="{0D108BD9-81ED-4DB2-BD59-A6C34878D82A}">
                    <a16:rowId xmlns:a16="http://schemas.microsoft.com/office/drawing/2014/main" val="3513266480"/>
                  </a:ext>
                </a:extLst>
              </a:tr>
              <a:tr h="188895">
                <a:tc>
                  <a:txBody>
                    <a:bodyPr wrap="square"/>
                    <a:lstStyle/>
                    <a:p>
                      <a:pPr>
                        <a:buNone/>
                      </a:pPr>
                      <a:r>
                        <a:rPr sz="950">
                          <a:latin typeface="Segoe UI"/>
                        </a:rPr>
                        <a:t>Phase 1</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wrap="square"/>
                    <a:lstStyle/>
                    <a:p>
                      <a:pPr>
                        <a:buNone/>
                      </a:pPr>
                      <a:r>
                        <a:rPr sz="950">
                          <a:latin typeface="Segoe UI"/>
                        </a:rPr>
                        <a:t>Literature Review</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wrap="square"/>
                    <a:lstStyle/>
                    <a:p>
                      <a:pPr>
                        <a:buNone/>
                      </a:pPr>
                      <a:r>
                        <a:rPr sz="950">
                          <a:latin typeface="Segoe UI"/>
                        </a:rPr>
                        <a:t>01-10-2025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wrap="square"/>
                    <a:lstStyle/>
                    <a:p>
                      <a:pPr>
                        <a:buNone/>
                      </a:pPr>
                      <a:r>
                        <a:rPr sz="950">
                          <a:latin typeface="Segoe UI"/>
                        </a:rPr>
                        <a:t>05-10-2025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wrap="square"/>
                    <a:lstStyle/>
                    <a:p>
                      <a:pPr>
                        <a:buNone/>
                      </a:pPr>
                      <a:r>
                        <a:rPr sz="950">
                          <a:latin typeface="Segoe UI"/>
                        </a:rPr>
                        <a:t>5</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tc>
                  <a:txBody>
                    <a:bodyPr wrap="square"/>
                    <a:lstStyle/>
                    <a:p>
                      <a:pPr>
                        <a:buNone/>
                      </a:pPr>
                      <a:r>
                        <a:rPr sz="950">
                          <a:latin typeface="Segoe UI"/>
                        </a:rPr>
                        <a:t>Sharjeel &amp; Hamza</a:t>
                      </a:r>
                    </a:p>
                  </a:txBody>
                  <a:tcPr marL="13496" marR="13496" marT="6748" marB="44790"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836451993"/>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Requirement Analysis</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06-10-2025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10-10-2025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0936512"/>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Scope Definition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11-10-2025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15-10-2025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160213288"/>
                  </a:ext>
                </a:extLst>
              </a:tr>
              <a:tr h="188895">
                <a:tc>
                  <a:txBody>
                    <a:bodyPr wrap="square"/>
                    <a:lstStyle/>
                    <a:p>
                      <a:pPr>
                        <a:buNone/>
                      </a:pPr>
                      <a:r>
                        <a:rPr sz="950">
                          <a:latin typeface="Segoe UI"/>
                        </a:rPr>
                        <a:t>Phase 2</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System Architecture Design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16-10-2025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22-10-2025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7</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36390570"/>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NoSQL Data Model Design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23-10-2025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05-11-2025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14</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63696443"/>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User &amp; Role Management</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06-11-2025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18-11-2025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13</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145656485"/>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Authentication &amp; Authorization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19-11-2025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30-11-2025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12</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47978096"/>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Job Module Implementation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01-12-2025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15-12-2025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271652634"/>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Application Module Implementation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16-12-2025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24-12-2025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9</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964816711"/>
                  </a:ext>
                </a:extLst>
              </a:tr>
              <a:tr h="188895">
                <a:tc>
                  <a:txBody>
                    <a:bodyPr wrap="square"/>
                    <a:lstStyle/>
                    <a:p>
                      <a:pPr>
                        <a:buNone/>
                      </a:pPr>
                      <a:r>
                        <a:rPr sz="950">
                          <a:latin typeface="Segoe UI"/>
                        </a:rPr>
                        <a:t>Phase 3</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Employer Dashboard</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10-12-2025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18-12-2025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9</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625010398"/>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Job Posting Interface</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15-12-2025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22-12-2025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88067428"/>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API Integration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20-12-2025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27-12-2025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8</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357303167"/>
                  </a:ext>
                </a:extLst>
              </a:tr>
              <a:tr h="188895">
                <a:tc>
                  <a:txBody>
                    <a:bodyPr wrap="square"/>
                    <a:lstStyle/>
                    <a:p>
                      <a:pPr>
                        <a:buNone/>
                      </a:pPr>
                      <a:r>
                        <a:rPr sz="950">
                          <a:latin typeface="Segoe UI"/>
                        </a:rPr>
                        <a:t>Phase 4</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Backend–Frontend Integration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26-12-2025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05-01-2026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11</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pPr>
                        <a:buNone/>
                      </a:pPr>
                      <a:r>
                        <a:rPr sz="950">
                          <a:latin typeface="Segoe UI"/>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67951634"/>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Workflow Validation</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06-01-2026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10-01-2026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pPr>
                        <a:buNone/>
                      </a:pPr>
                      <a:r>
                        <a:rPr sz="950">
                          <a:latin typeface="Segoe UI"/>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918673463"/>
                  </a:ext>
                </a:extLst>
              </a:tr>
              <a:tr h="188895">
                <a:tc>
                  <a:txBody>
                    <a:bodyPr wrap="square"/>
                    <a:lstStyle/>
                    <a:p>
                      <a:pPr>
                        <a:buNone/>
                      </a:pPr>
                      <a:r>
                        <a:rPr sz="950">
                          <a:latin typeface="Segoe UI"/>
                        </a:rPr>
                        <a:t>Phase 5</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Stateless AI Matching &amp; NLP</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01-02-2026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20-02-2026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20</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Sharjeel</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04571728"/>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Admin Panels &amp; Core Analytics</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15-02-2026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28-02-2026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14</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709401197"/>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Production Cloud Deployment</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01-03-2026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15-03-2026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15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tc>
                  <a:txBody>
                    <a:bodyPr wrap="square"/>
                    <a:lstStyle/>
                    <a:p>
                      <a:r>
                        <a:rPr sz="950">
                          <a:latin typeface="Segoe UI"/>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566942829"/>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Comprehensive Quality Assurance</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16-03-2026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30-05-2026</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75</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wrap="square"/>
                    <a:lstStyle/>
                    <a:p>
                      <a:r>
                        <a:rPr sz="950">
                          <a:latin typeface="Segoe UI"/>
                        </a:rPr>
                        <a:t>Sharjeel &amp; Hamza</a:t>
                      </a:r>
                    </a:p>
                  </a:txBody>
                  <a:tcPr marL="13496" marR="13496" marT="6748" marB="4479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347080346"/>
                  </a:ext>
                </a:extLst>
              </a:tr>
              <a:tr h="188895">
                <a:tc>
                  <a:txBody>
                    <a:bodyPr wrap="square"/>
                    <a:lstStyle/>
                    <a:p>
                      <a:pPr>
                        <a:buNone/>
                      </a:pPr>
                      <a:r>
                        <a:rPr sz="950">
                          <a:latin typeface="Segoe UI"/>
                        </a:rPr>
                        <a:t/>
                      </a:r>
                      <a:endParaRPr lang="en-US" sz="800" cap="none" spc="0">
                        <a:solidFill>
                          <a:schemeClr val="tx1"/>
                        </a:solidFill>
                      </a:endParaRPr>
                    </a:p>
                  </a:txBody>
                  <a:tcPr marL="13496" marR="13496" marT="6748" marB="44790" anchor="ctr">
                    <a:lnL w="12700" cap="flat" cmpd="sng" algn="ctr">
                      <a:solidFill>
                        <a:schemeClr val="tx1"/>
                      </a:solidFill>
                      <a:prstDash val="solid"/>
                    </a:lnL>
                    <a:lnR w="12700" cmpd="sng">
                      <a:noFill/>
                      <a:prstDash val="solid"/>
                    </a:lnR>
                    <a:lnT w="12700" cmpd="sng">
                      <a:noFill/>
                      <a:prstDash val="solid"/>
                    </a:lnT>
                    <a:lnB w="12700" cap="flat" cmpd="sng" algn="ctr">
                      <a:noFill/>
                      <a:prstDash val="solid"/>
                    </a:lnB>
                    <a:noFill/>
                  </a:tcPr>
                </a:tc>
                <a:tc>
                  <a:txBody>
                    <a:bodyPr wrap="square"/>
                    <a:lstStyle/>
                    <a:p>
                      <a:r>
                        <a:rPr sz="950">
                          <a:latin typeface="Segoe UI"/>
                        </a:rPr>
                        <a:t>Final Thesis &amp; Presentation</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wrap="square"/>
                    <a:lstStyle/>
                    <a:p>
                      <a:r>
                        <a:rPr sz="950">
                          <a:latin typeface="Segoe UI"/>
                        </a:rPr>
                        <a:t>01-06-2026</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wrap="square"/>
                    <a:lstStyle/>
                    <a:p>
                      <a:r>
                        <a:rPr sz="950">
                          <a:latin typeface="Segoe UI"/>
                        </a:rPr>
                        <a:t>18-06-2026</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wrap="square"/>
                    <a:lstStyle/>
                    <a:p>
                      <a:r>
                        <a:rPr sz="950">
                          <a:latin typeface="Segoe UI"/>
                        </a:rPr>
                        <a:t>18</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tc>
                  <a:txBody>
                    <a:bodyPr wrap="square"/>
                    <a:lstStyle/>
                    <a:p>
                      <a:r>
                        <a:rPr sz="950">
                          <a:latin typeface="Segoe UI"/>
                        </a:rPr>
                        <a:t>Sharjeel &amp; Hamza</a:t>
                      </a:r>
                    </a:p>
                  </a:txBody>
                  <a:tcPr marL="13496" marR="13496" marT="6748" marB="4479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719867842"/>
                  </a:ext>
                </a:extLst>
              </a:tr>
            </a:tbl>
          </a:graphicData>
        </a:graphic>
      </p:graphicFrame>
    </p:spTree>
    <p:extLst>
      <p:ext uri="{BB962C8B-B14F-4D97-AF65-F5344CB8AC3E}">
        <p14:creationId xmlns:p14="http://schemas.microsoft.com/office/powerpoint/2010/main" val="312443736"/>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b="1" sz="3400">
                <a:latin typeface="Segoe UI"/>
              </a:rPr>
              <a:t>AI Recommendation Engine</a:t>
            </a:r>
          </a:p>
        </p:txBody>
      </p:sp>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extBox 27"/>
          <p:cNvSpPr txBox="1"/>
          <p:nvPr/>
        </p:nvSpPr>
        <p:spPr>
          <a:xfrm>
            <a:off x="1097280" y="1965960"/>
            <a:ext cx="4754880" cy="4069080"/>
          </a:xfrm>
          <a:prstGeom prst="rect">
            <a:avLst/>
          </a:prstGeom>
          <a:noFill/>
        </p:spPr>
        <p:txBody>
          <a:bodyPr wrap="square" lIns="0" tIns="0" rIns="0" bIns="0">
            <a:spAutoFit/>
          </a:bodyPr>
          <a:lstStyle/>
          <a:p>
            <a:pPr>
              <a:lnSpc>
                <a:spcPct val="115000"/>
              </a:lnSpc>
              <a:spcAft>
                <a:spcPts val="800"/>
              </a:spcAft>
            </a:pPr>
            <a:r>
              <a:rPr b="1" sz="1300">
                <a:latin typeface="Segoe UI"/>
              </a:rPr>
              <a:t>• Advanced NLP Cleaners: </a:t>
            </a:r>
            <a:r>
              <a:rPr b="0" sz="1300">
                <a:latin typeface="Segoe UI"/>
              </a:rPr>
              <a:t>Normalizes profiles, portfolio summaries, and job descriptions with hyphen preservation.</a:t>
            </a:r>
          </a:p>
          <a:p>
            <a:pPr>
              <a:lnSpc>
                <a:spcPct val="115000"/>
              </a:lnSpc>
              <a:spcAft>
                <a:spcPts val="800"/>
              </a:spcAft>
            </a:pPr>
            <a:r>
              <a:rPr b="1" sz="1300">
                <a:latin typeface="Segoe UI"/>
              </a:rPr>
              <a:t>• TF-IDF Vectorization: </a:t>
            </a:r>
            <a:r>
              <a:rPr b="0" sz="1300">
                <a:latin typeface="Segoe UI"/>
              </a:rPr>
              <a:t>Text properties are vectorized into numerical features using scikit-learn's stateless analyzer.</a:t>
            </a:r>
          </a:p>
          <a:p>
            <a:pPr>
              <a:lnSpc>
                <a:spcPct val="115000"/>
              </a:lnSpc>
              <a:spcAft>
                <a:spcPts val="800"/>
              </a:spcAft>
            </a:pPr>
            <a:r>
              <a:rPr b="1" sz="1300">
                <a:latin typeface="Segoe UI"/>
              </a:rPr>
              <a:t>• 7-Factor Weighted Scoring: </a:t>
            </a:r>
            <a:r>
              <a:rPr b="0" sz="1300">
                <a:latin typeface="Segoe UI"/>
              </a:rPr>
              <a:t>Scores profiles on skill overlap (cosine similarity), experience, portfolio fit, rating, category preference, availability, and twin-city proximity.</a:t>
            </a:r>
          </a:p>
          <a:p>
            <a:pPr>
              <a:lnSpc>
                <a:spcPct val="115000"/>
              </a:lnSpc>
              <a:spcAft>
                <a:spcPts val="800"/>
              </a:spcAft>
            </a:pPr>
            <a:r>
              <a:rPr b="1" sz="1300">
                <a:latin typeface="Segoe UI"/>
              </a:rPr>
              <a:t>• Skill Gap Analysis: </a:t>
            </a:r>
            <a:r>
              <a:rPr b="0" sz="1300">
                <a:latin typeface="Segoe UI"/>
              </a:rPr>
              <a:t>Highlights missing skills (e.g. React, Docker) dynamically with recommendations.</a:t>
            </a:r>
          </a:p>
          <a:p>
            <a:pPr>
              <a:lnSpc>
                <a:spcPct val="115000"/>
              </a:lnSpc>
              <a:spcAft>
                <a:spcPts val="800"/>
              </a:spcAft>
            </a:pPr>
            <a:r>
              <a:rPr b="1" sz="1300">
                <a:latin typeface="Segoe UI"/>
              </a:rPr>
              <a:t>• Explainable AI: </a:t>
            </a:r>
            <a:r>
              <a:rPr b="0" sz="1300">
                <a:latin typeface="Segoe UI"/>
              </a:rPr>
              <a:t>Matches include score explanations (e.g., 'React matched, Portfolio matched, Commute inside 5km').</a:t>
            </a:r>
          </a:p>
          <a:p>
            <a:pPr>
              <a:lnSpc>
                <a:spcPct val="115000"/>
              </a:lnSpc>
              <a:spcAft>
                <a:spcPts val="800"/>
              </a:spcAft>
            </a:pPr>
            <a:r>
              <a:rPr b="1" sz="1300">
                <a:latin typeface="Segoe UI"/>
              </a:rPr>
              <a:t>• Evaluation Metrics: </a:t>
            </a:r>
            <a:r>
              <a:rPr b="0" sz="1300">
                <a:latin typeface="Segoe UI"/>
              </a:rPr>
              <a:t>Achieved a Mean Average Precision (MAP) of 1.00 and Mean Reciprocal Rank (MRR) of 1.00.</a:t>
            </a:r>
          </a:p>
        </p:txBody>
      </p:sp>
      <p:pic>
        <p:nvPicPr>
          <p:cNvPr id="29" name="Picture 28" descr="seeker-dashboard.png"/>
          <p:cNvPicPr>
            <a:picLocks noChangeAspect="1"/>
          </p:cNvPicPr>
          <p:nvPr/>
        </p:nvPicPr>
        <p:blipFill>
          <a:blip r:embed="rId2"/>
          <a:stretch>
            <a:fillRect/>
          </a:stretch>
        </p:blipFill>
        <p:spPr>
          <a:xfrm>
            <a:off x="6309360" y="1965960"/>
            <a:ext cx="4782312" cy="2988945"/>
          </a:xfrm>
          <a:prstGeom prst="rect">
            <a:avLst/>
          </a:prstGeom>
        </p:spPr>
      </p:pic>
      <p:sp>
        <p:nvSpPr>
          <p:cNvPr id="30" name="TextBox 29"/>
          <p:cNvSpPr txBox="1"/>
          <p:nvPr/>
        </p:nvSpPr>
        <p:spPr>
          <a:xfrm>
            <a:off x="9902952" y="6464808"/>
            <a:ext cx="1316736" cy="365760"/>
          </a:xfrm>
          <a:prstGeom prst="rect">
            <a:avLst/>
          </a:prstGeom>
          <a:noFill/>
        </p:spPr>
        <p:txBody>
          <a:bodyPr wrap="none">
            <a:spAutoFit/>
          </a:bodyPr>
          <a:lstStyle/>
          <a:p>
            <a:pPr algn="r"/>
            <a:r>
              <a:rPr sz="1100">
                <a:solidFill>
                  <a:srgbClr val="808080"/>
                </a:solidFill>
                <a:latin typeface="Segoe UI"/>
              </a:rPr>
              <a:t>11</a:t>
            </a:r>
          </a:p>
        </p:txBody>
      </p:sp>
      <p:sp>
        <p:nvSpPr>
          <p:cNvPr id="31" name="TextBox 30"/>
          <p:cNvSpPr txBox="1"/>
          <p:nvPr/>
        </p:nvSpPr>
        <p:spPr>
          <a:xfrm>
            <a:off x="3685032" y="6464808"/>
            <a:ext cx="4818888" cy="365760"/>
          </a:xfrm>
          <a:prstGeom prst="rect">
            <a:avLst/>
          </a:prstGeom>
          <a:noFill/>
        </p:spPr>
        <p:txBody>
          <a:bodyPr wrap="none">
            <a:spAutoFit/>
          </a:bodyPr>
          <a:lstStyle/>
          <a:p>
            <a:pPr algn="ctr"/>
            <a:r>
              <a:rPr sz="950">
                <a:solidFill>
                  <a:srgbClr val="808080"/>
                </a:solidFill>
                <a:latin typeface="Segoe UI"/>
              </a:rPr>
              <a:t>BSc. Information Engg. Technology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b="1" sz="3400">
                <a:latin typeface="Segoe UI"/>
              </a:rPr>
              <a:t>Employer Workspace</a:t>
            </a:r>
          </a:p>
        </p:txBody>
      </p:sp>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extBox 27"/>
          <p:cNvSpPr txBox="1"/>
          <p:nvPr/>
        </p:nvSpPr>
        <p:spPr>
          <a:xfrm>
            <a:off x="1097280" y="1965960"/>
            <a:ext cx="4754880" cy="4069080"/>
          </a:xfrm>
          <a:prstGeom prst="rect">
            <a:avLst/>
          </a:prstGeom>
          <a:noFill/>
        </p:spPr>
        <p:txBody>
          <a:bodyPr wrap="square" lIns="0" tIns="0" rIns="0" bIns="0">
            <a:spAutoFit/>
          </a:bodyPr>
          <a:lstStyle/>
          <a:p>
            <a:pPr>
              <a:lnSpc>
                <a:spcPct val="115000"/>
              </a:lnSpc>
              <a:spcAft>
                <a:spcPts val="800"/>
              </a:spcAft>
            </a:pPr>
            <a:r>
              <a:rPr b="1" sz="1300">
                <a:latin typeface="Segoe UI"/>
              </a:rPr>
              <a:t>• Clean Dashboard: </a:t>
            </a:r>
            <a:r>
              <a:rPr b="0" sz="1300">
                <a:latin typeface="Segoe UI"/>
              </a:rPr>
              <a:t>Real-time overview of active jobs, applicant counts, scheduled interviews, and recent platform logs.</a:t>
            </a:r>
          </a:p>
          <a:p>
            <a:pPr>
              <a:lnSpc>
                <a:spcPct val="115000"/>
              </a:lnSpc>
              <a:spcAft>
                <a:spcPts val="800"/>
              </a:spcAft>
            </a:pPr>
            <a:r>
              <a:rPr b="1" sz="1300">
                <a:latin typeface="Segoe UI"/>
              </a:rPr>
              <a:t>• Job Advertising: </a:t>
            </a:r>
            <a:r>
              <a:rPr b="0" sz="1300">
                <a:latin typeface="Segoe UI"/>
              </a:rPr>
              <a:t>Create digital freelancing contracts or localized on-site physical service ads with specific skill and budget bounds.</a:t>
            </a:r>
          </a:p>
          <a:p>
            <a:pPr>
              <a:lnSpc>
                <a:spcPct val="115000"/>
              </a:lnSpc>
              <a:spcAft>
                <a:spcPts val="800"/>
              </a:spcAft>
            </a:pPr>
            <a:r>
              <a:rPr b="1" sz="1300">
                <a:latin typeface="Segoe UI"/>
              </a:rPr>
              <a:t>• AI Candidate Ranking: </a:t>
            </a:r>
            <a:r>
              <a:rPr b="0" sz="1300">
                <a:latin typeface="Segoe UI"/>
              </a:rPr>
              <a:t>Instantly ranks all job applicants as soon as the employer opens the job applicant details.</a:t>
            </a:r>
          </a:p>
          <a:p>
            <a:pPr>
              <a:lnSpc>
                <a:spcPct val="115000"/>
              </a:lnSpc>
              <a:spcAft>
                <a:spcPts val="800"/>
              </a:spcAft>
            </a:pPr>
            <a:r>
              <a:rPr b="1" sz="1300">
                <a:latin typeface="Segoe UI"/>
              </a:rPr>
              <a:t>• Workflow Status Control: </a:t>
            </a:r>
            <a:r>
              <a:rPr b="0" sz="1300">
                <a:latin typeface="Segoe UI"/>
              </a:rPr>
              <a:t>Move candidates from Pending to Reviewed, schedule Interviews, hire, or complete projects.</a:t>
            </a:r>
          </a:p>
          <a:p>
            <a:pPr>
              <a:lnSpc>
                <a:spcPct val="115000"/>
              </a:lnSpc>
              <a:spcAft>
                <a:spcPts val="800"/>
              </a:spcAft>
            </a:pPr>
            <a:r>
              <a:rPr b="1" sz="1300">
                <a:latin typeface="Segoe UI"/>
              </a:rPr>
              <a:t>• Interview Chat Gating: </a:t>
            </a:r>
            <a:r>
              <a:rPr b="0" sz="1300">
                <a:latin typeface="Segoe UI"/>
              </a:rPr>
              <a:t>The messaging module is dynamically unlocked ONLY when the candidate reaches the 'Interview' stage.</a:t>
            </a:r>
          </a:p>
        </p:txBody>
      </p:sp>
      <p:pic>
        <p:nvPicPr>
          <p:cNvPr id="29" name="Picture 28" descr="employer-dashboard.png"/>
          <p:cNvPicPr>
            <a:picLocks noChangeAspect="1"/>
          </p:cNvPicPr>
          <p:nvPr/>
        </p:nvPicPr>
        <p:blipFill>
          <a:blip r:embed="rId2"/>
          <a:stretch>
            <a:fillRect/>
          </a:stretch>
        </p:blipFill>
        <p:spPr>
          <a:xfrm>
            <a:off x="6309360" y="1965960"/>
            <a:ext cx="4782312" cy="2988945"/>
          </a:xfrm>
          <a:prstGeom prst="rect">
            <a:avLst/>
          </a:prstGeom>
        </p:spPr>
      </p:pic>
      <p:sp>
        <p:nvSpPr>
          <p:cNvPr id="30" name="TextBox 29"/>
          <p:cNvSpPr txBox="1"/>
          <p:nvPr/>
        </p:nvSpPr>
        <p:spPr>
          <a:xfrm>
            <a:off x="9902952" y="6464808"/>
            <a:ext cx="1316736" cy="365760"/>
          </a:xfrm>
          <a:prstGeom prst="rect">
            <a:avLst/>
          </a:prstGeom>
          <a:noFill/>
        </p:spPr>
        <p:txBody>
          <a:bodyPr wrap="none">
            <a:spAutoFit/>
          </a:bodyPr>
          <a:lstStyle/>
          <a:p>
            <a:pPr algn="r"/>
            <a:r>
              <a:rPr sz="1100">
                <a:solidFill>
                  <a:srgbClr val="808080"/>
                </a:solidFill>
                <a:latin typeface="Segoe UI"/>
              </a:rPr>
              <a:t>12</a:t>
            </a:r>
          </a:p>
        </p:txBody>
      </p:sp>
      <p:sp>
        <p:nvSpPr>
          <p:cNvPr id="31" name="TextBox 30"/>
          <p:cNvSpPr txBox="1"/>
          <p:nvPr/>
        </p:nvSpPr>
        <p:spPr>
          <a:xfrm>
            <a:off x="3685032" y="6464808"/>
            <a:ext cx="4818888" cy="365760"/>
          </a:xfrm>
          <a:prstGeom prst="rect">
            <a:avLst/>
          </a:prstGeom>
          <a:noFill/>
        </p:spPr>
        <p:txBody>
          <a:bodyPr wrap="none">
            <a:spAutoFit/>
          </a:bodyPr>
          <a:lstStyle/>
          <a:p>
            <a:pPr algn="ctr"/>
            <a:r>
              <a:rPr sz="950">
                <a:solidFill>
                  <a:srgbClr val="808080"/>
                </a:solidFill>
                <a:latin typeface="Segoe UI"/>
              </a:rPr>
              <a:t>BSc. Information Engg. Technology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r>
              <a:rPr b="1" sz="3400">
                <a:latin typeface="Segoe UI"/>
              </a:rPr>
              <a:t>Seeker Workspace</a:t>
            </a:r>
          </a:p>
        </p:txBody>
      </p:sp>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TextBox 27"/>
          <p:cNvSpPr txBox="1"/>
          <p:nvPr/>
        </p:nvSpPr>
        <p:spPr>
          <a:xfrm>
            <a:off x="1097280" y="1965960"/>
            <a:ext cx="4754880" cy="4069080"/>
          </a:xfrm>
          <a:prstGeom prst="rect">
            <a:avLst/>
          </a:prstGeom>
          <a:noFill/>
        </p:spPr>
        <p:txBody>
          <a:bodyPr wrap="square" lIns="0" tIns="0" rIns="0" bIns="0">
            <a:spAutoFit/>
          </a:bodyPr>
          <a:lstStyle/>
          <a:p>
            <a:pPr>
              <a:lnSpc>
                <a:spcPct val="115000"/>
              </a:lnSpc>
              <a:spcAft>
                <a:spcPts val="800"/>
              </a:spcAft>
            </a:pPr>
            <a:r>
              <a:rPr b="1" sz="1300">
                <a:latin typeface="Segoe UI"/>
              </a:rPr>
              <a:t>• Intelligent Dashboard: </a:t>
            </a:r>
            <a:r>
              <a:rPr b="0" sz="1300">
                <a:latin typeface="Segoe UI"/>
              </a:rPr>
              <a:t>Instant list of top recommended matches complete with score explanations and gap details.</a:t>
            </a:r>
          </a:p>
          <a:p>
            <a:pPr>
              <a:lnSpc>
                <a:spcPct val="115000"/>
              </a:lnSpc>
              <a:spcAft>
                <a:spcPts val="800"/>
              </a:spcAft>
            </a:pPr>
            <a:r>
              <a:rPr b="1" sz="1300">
                <a:latin typeface="Segoe UI"/>
              </a:rPr>
              <a:t>• Advanced Gigs Discovery: </a:t>
            </a:r>
            <a:r>
              <a:rPr b="0" sz="1300">
                <a:latin typeface="Segoe UI"/>
              </a:rPr>
              <a:t>Browse active digital/physical listings with filters for category, budget, location, and skills.</a:t>
            </a:r>
          </a:p>
          <a:p>
            <a:pPr>
              <a:lnSpc>
                <a:spcPct val="115000"/>
              </a:lnSpc>
              <a:spcAft>
                <a:spcPts val="800"/>
              </a:spcAft>
            </a:pPr>
            <a:r>
              <a:rPr b="1" sz="1300">
                <a:latin typeface="Segoe UI"/>
              </a:rPr>
              <a:t>• Interactive Timelines: </a:t>
            </a:r>
            <a:r>
              <a:rPr b="0" sz="1300">
                <a:latin typeface="Segoe UI"/>
              </a:rPr>
              <a:t>Real-time visual timeline showing current application statuses and feedback progress.</a:t>
            </a:r>
          </a:p>
          <a:p>
            <a:pPr>
              <a:lnSpc>
                <a:spcPct val="115000"/>
              </a:lnSpc>
              <a:spcAft>
                <a:spcPts val="800"/>
              </a:spcAft>
            </a:pPr>
            <a:r>
              <a:rPr b="1" sz="1300">
                <a:latin typeface="Segoe UI"/>
              </a:rPr>
              <a:t>• Direct Communication: </a:t>
            </a:r>
            <a:r>
              <a:rPr b="0" sz="1300">
                <a:latin typeface="Segoe UI"/>
              </a:rPr>
              <a:t>Chat in real-time with employers once your application is moved to the 'Interview' stage.</a:t>
            </a:r>
          </a:p>
          <a:p>
            <a:pPr>
              <a:lnSpc>
                <a:spcPct val="115000"/>
              </a:lnSpc>
              <a:spcAft>
                <a:spcPts val="800"/>
              </a:spcAft>
            </a:pPr>
            <a:r>
              <a:rPr b="1" sz="1300">
                <a:latin typeface="Segoe UI"/>
              </a:rPr>
              <a:t>• Profile Strengths Meter: </a:t>
            </a:r>
            <a:r>
              <a:rPr b="0" sz="1300">
                <a:latin typeface="Segoe UI"/>
              </a:rPr>
              <a:t>Visual progress tracker displaying overall profile completion and identifying missing details.</a:t>
            </a:r>
          </a:p>
        </p:txBody>
      </p:sp>
      <p:pic>
        <p:nvPicPr>
          <p:cNvPr id="29" name="Picture 28" descr="seeker-explore.png"/>
          <p:cNvPicPr>
            <a:picLocks noChangeAspect="1"/>
          </p:cNvPicPr>
          <p:nvPr/>
        </p:nvPicPr>
        <p:blipFill>
          <a:blip r:embed="rId2"/>
          <a:stretch>
            <a:fillRect/>
          </a:stretch>
        </p:blipFill>
        <p:spPr>
          <a:xfrm>
            <a:off x="6309360" y="1965960"/>
            <a:ext cx="4782312" cy="2988945"/>
          </a:xfrm>
          <a:prstGeom prst="rect">
            <a:avLst/>
          </a:prstGeom>
        </p:spPr>
      </p:pic>
      <p:sp>
        <p:nvSpPr>
          <p:cNvPr id="30" name="TextBox 29"/>
          <p:cNvSpPr txBox="1"/>
          <p:nvPr/>
        </p:nvSpPr>
        <p:spPr>
          <a:xfrm>
            <a:off x="9902952" y="6464808"/>
            <a:ext cx="1316736" cy="365760"/>
          </a:xfrm>
          <a:prstGeom prst="rect">
            <a:avLst/>
          </a:prstGeom>
          <a:noFill/>
        </p:spPr>
        <p:txBody>
          <a:bodyPr wrap="none">
            <a:spAutoFit/>
          </a:bodyPr>
          <a:lstStyle/>
          <a:p>
            <a:pPr algn="r"/>
            <a:r>
              <a:rPr sz="1100">
                <a:solidFill>
                  <a:srgbClr val="808080"/>
                </a:solidFill>
                <a:latin typeface="Segoe UI"/>
              </a:rPr>
              <a:t>13</a:t>
            </a:r>
          </a:p>
        </p:txBody>
      </p:sp>
      <p:sp>
        <p:nvSpPr>
          <p:cNvPr id="31" name="TextBox 30"/>
          <p:cNvSpPr txBox="1"/>
          <p:nvPr/>
        </p:nvSpPr>
        <p:spPr>
          <a:xfrm>
            <a:off x="3685032" y="6464808"/>
            <a:ext cx="4818888" cy="365760"/>
          </a:xfrm>
          <a:prstGeom prst="rect">
            <a:avLst/>
          </a:prstGeom>
          <a:noFill/>
        </p:spPr>
        <p:txBody>
          <a:bodyPr wrap="none">
            <a:spAutoFit/>
          </a:bodyPr>
          <a:lstStyle/>
          <a:p>
            <a:pPr algn="ctr"/>
            <a:r>
              <a:rPr sz="950">
                <a:solidFill>
                  <a:srgbClr val="808080"/>
                </a:solidFill>
                <a:latin typeface="Segoe UI"/>
              </a:rPr>
              <a:t>BSc. Information Engg. Technology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pPr/>
            <a:r>
              <a:rPr b="1" sz="3400">
                <a:latin typeface="Segoe UI"/>
              </a:rPr>
              <a:t>Conclusion &amp; Future Work</a:t>
            </a:r>
          </a:p>
        </p:txBody>
      </p:sp>
      <p:sp>
        <p:nvSpPr>
          <p:cNvPr id="19" name="Rectangle 18">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ctr">
              <a:spcAft>
                <a:spcPts val="600"/>
              </a:spcAft>
            </a:pPr>
            <a:r>
              <a:rPr sz="950">
                <a:solidFill>
                  <a:srgbClr val="808080"/>
                </a:solidFill>
                <a:latin typeface="Segoe UI"/>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lgn="r">
              <a:spcAft>
                <a:spcPts val="600"/>
              </a:spcAft>
            </a:pPr>
            <a:r>
              <a:rPr sz="1100">
                <a:solidFill>
                  <a:srgbClr val="808080"/>
                </a:solidFill>
                <a:latin typeface="Segoe UI"/>
              </a:rPr>
              <a:t>14</a:t>
            </a:r>
            <a:endParaRPr lang="en-US">
              <a:solidFill>
                <a:schemeClr val="tx2"/>
              </a:solidFill>
            </a:endParaRPr>
          </a:p>
        </p:txBody>
      </p:sp>
      <p:sp>
        <p:nvSpPr>
          <p:cNvPr id="20" name="TextBox 19"/>
          <p:cNvSpPr txBox="1"/>
          <p:nvPr/>
        </p:nvSpPr>
        <p:spPr>
          <a:xfrm>
            <a:off x="4745736" y="640080"/>
            <a:ext cx="6793992" cy="5650992"/>
          </a:xfrm>
          <a:prstGeom prst="rect">
            <a:avLst/>
          </a:prstGeom>
          <a:noFill/>
        </p:spPr>
        <p:txBody>
          <a:bodyPr wrap="square" lIns="0" tIns="0" rIns="0" bIns="0">
            <a:spAutoFit/>
          </a:bodyPr>
          <a:lstStyle/>
          <a:p>
            <a:pPr>
              <a:lnSpc>
                <a:spcPct val="115000"/>
              </a:lnSpc>
              <a:spcAft>
                <a:spcPts val="1200"/>
              </a:spcAft>
            </a:pPr>
            <a:r>
              <a:rPr b="1" sz="1400">
                <a:latin typeface="Segoe UI"/>
              </a:rPr>
              <a:t>• Successful Unification: </a:t>
            </a:r>
            <a:r>
              <a:rPr b="0" sz="1400">
                <a:latin typeface="Segoe UI"/>
              </a:rPr>
              <a:t>Developed Pakistan's premier hybrid marketplace combining online digital freelancing and local physical task outsourcing.</a:t>
            </a:r>
          </a:p>
          <a:p>
            <a:pPr>
              <a:lnSpc>
                <a:spcPct val="115000"/>
              </a:lnSpc>
              <a:spcAft>
                <a:spcPts val="1200"/>
              </a:spcAft>
            </a:pPr>
            <a:r>
              <a:rPr b="1" sz="1400">
                <a:latin typeface="Segoe UI"/>
              </a:rPr>
              <a:t>• Validated Recommendation Model: </a:t>
            </a:r>
            <a:r>
              <a:rPr b="0" sz="1400">
                <a:latin typeface="Segoe UI"/>
              </a:rPr>
              <a:t>Created an explainable weighted AI recommendations microservice achieving high evaluation accuracy (MAP = 1.00, MRR = 1.00).</a:t>
            </a:r>
          </a:p>
          <a:p>
            <a:pPr>
              <a:lnSpc>
                <a:spcPct val="115000"/>
              </a:lnSpc>
              <a:spcAft>
                <a:spcPts val="1200"/>
              </a:spcAft>
            </a:pPr>
            <a:r>
              <a:rPr b="1" sz="1400">
                <a:latin typeface="Segoe UI"/>
              </a:rPr>
              <a:t>• Anti-Spam Gating: </a:t>
            </a:r>
            <a:r>
              <a:rPr b="0" sz="1400">
                <a:latin typeface="Segoe UI"/>
              </a:rPr>
              <a:t>Enforced robust hiring workflow interlocks, ensuring chat remains closed until interviews and reviews gate completed projects.</a:t>
            </a:r>
          </a:p>
          <a:p>
            <a:pPr>
              <a:lnSpc>
                <a:spcPct val="115000"/>
              </a:lnSpc>
              <a:spcAft>
                <a:spcPts val="1200"/>
              </a:spcAft>
            </a:pPr>
            <a:r>
              <a:rPr b="1" sz="1400">
                <a:latin typeface="Segoe UI"/>
              </a:rPr>
              <a:t>• Startup-Grade Aesthetics: </a:t>
            </a:r>
            <a:r>
              <a:rPr b="0" sz="1400">
                <a:latin typeface="Segoe UI"/>
              </a:rPr>
              <a:t>Crafted a highly responsive, modern interface inspired by Stripe, Vercel, and Apple guidelines.</a:t>
            </a:r>
          </a:p>
          <a:p>
            <a:pPr>
              <a:lnSpc>
                <a:spcPct val="115000"/>
              </a:lnSpc>
              <a:spcAft>
                <a:spcPts val="1200"/>
              </a:spcAft>
            </a:pPr>
            <a:r>
              <a:rPr b="1" sz="1400">
                <a:latin typeface="Segoe UI"/>
              </a:rPr>
              <a:t>• Future Horizon: </a:t>
            </a:r>
            <a:r>
              <a:rPr b="0" sz="1400">
                <a:latin typeface="Segoe UI"/>
              </a:rPr>
              <a:t>Highly modular architecture prepared for real-time payment gateways, voice-interview rooms, and mobile Progressive Web Apps (PWA).</a:t>
            </a:r>
          </a:p>
        </p:txBody>
      </p:sp>
    </p:spTree>
    <p:extLst>
      <p:ext uri="{BB962C8B-B14F-4D97-AF65-F5344CB8AC3E}">
        <p14:creationId xmlns:p14="http://schemas.microsoft.com/office/powerpoint/2010/main" val="1022764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a:r>
              <a:rPr b="1" sz="3400">
                <a:latin typeface="Segoe UI"/>
              </a:rPr>
              <a:t>References</a:t>
            </a: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Footer Placeholder 7"/>
          <p:cNvSpPr>
            <a:spLocks noGrp="1"/>
          </p:cNvSpPr>
          <p:nvPr>
            <p:ph type="ftr" sz="quarter" idx="11"/>
          </p:nvPr>
        </p:nvSpPr>
        <p:spPr>
          <a:xfrm>
            <a:off x="4742017" y="6459785"/>
            <a:ext cx="5105169" cy="365125"/>
          </a:xfrm>
        </p:spPr>
        <p:txBody>
          <a:bodyPr>
            <a:normAutofit/>
          </a:bodyPr>
          <a:lstStyle/>
          <a:p>
            <a:pPr algn="ctr">
              <a:spcAft>
                <a:spcPts val="600"/>
              </a:spcAft>
            </a:pPr>
            <a:r>
              <a:rPr sz="950">
                <a:solidFill>
                  <a:srgbClr val="808080"/>
                </a:solidFill>
                <a:latin typeface="Segoe UI"/>
              </a:rPr>
              <a:t>BSc. Information Engg. Technology</a:t>
            </a:r>
          </a:p>
        </p:txBody>
      </p:sp>
      <p:sp>
        <p:nvSpPr>
          <p:cNvPr id="9" name="Slide Number Placeholder 8"/>
          <p:cNvSpPr>
            <a:spLocks noGrp="1"/>
          </p:cNvSpPr>
          <p:nvPr>
            <p:ph type="sldNum" sz="quarter" idx="12"/>
          </p:nvPr>
        </p:nvSpPr>
        <p:spPr>
          <a:xfrm>
            <a:off x="10123055" y="6459785"/>
            <a:ext cx="1089428" cy="365125"/>
          </a:xfrm>
        </p:spPr>
        <p:txBody>
          <a:bodyPr>
            <a:normAutofit/>
          </a:bodyPr>
          <a:lstStyle/>
          <a:p>
            <a:pPr algn="r">
              <a:spcAft>
                <a:spcPts val="600"/>
              </a:spcAft>
            </a:pPr>
            <a:r>
              <a:rPr sz="1100">
                <a:solidFill>
                  <a:srgbClr val="808080"/>
                </a:solidFill>
                <a:latin typeface="Segoe UI"/>
              </a:rPr>
              <a:t>15</a:t>
            </a:r>
            <a:endParaRPr lang="en-US">
              <a:solidFill>
                <a:schemeClr val="tx2"/>
              </a:solidFill>
            </a:endParaRPr>
          </a:p>
        </p:txBody>
      </p:sp>
      <p:sp>
        <p:nvSpPr>
          <p:cNvPr id="19" name="TextBox 18"/>
          <p:cNvSpPr txBox="1"/>
          <p:nvPr/>
        </p:nvSpPr>
        <p:spPr>
          <a:xfrm>
            <a:off x="4745736" y="603504"/>
            <a:ext cx="6409944" cy="5641848"/>
          </a:xfrm>
          <a:prstGeom prst="rect">
            <a:avLst/>
          </a:prstGeom>
          <a:noFill/>
        </p:spPr>
        <p:txBody>
          <a:bodyPr wrap="square" lIns="0" tIns="0" rIns="0" bIns="0">
            <a:spAutoFit/>
          </a:bodyPr>
          <a:lstStyle/>
          <a:p>
            <a:pPr>
              <a:lnSpc>
                <a:spcPct val="115000"/>
              </a:lnSpc>
              <a:spcAft>
                <a:spcPts val="1200"/>
              </a:spcAft>
            </a:pPr>
            <a:r>
              <a:rPr b="0" sz="1200">
                <a:latin typeface="Segoe UI"/>
              </a:rPr>
              <a:t>• [1] Sommerville, Software Engineering, 10th ed., Pearson Education, 2016.</a:t>
            </a:r>
          </a:p>
          <a:p>
            <a:pPr>
              <a:lnSpc>
                <a:spcPct val="115000"/>
              </a:lnSpc>
              <a:spcAft>
                <a:spcPts val="1200"/>
              </a:spcAft>
            </a:pPr>
            <a:r>
              <a:rPr b="1" sz="1200">
                <a:latin typeface="Segoe UI"/>
              </a:rPr>
              <a:t>• [2] MongoDB Inc., MongoDB Manual. Available: </a:t>
            </a:r>
            <a:r>
              <a:rPr b="0" sz="1200">
                <a:latin typeface="Segoe UI"/>
              </a:rPr>
              <a:t>https://www.mongodb.com/docs/ (Accessed Jan. 2026).</a:t>
            </a:r>
          </a:p>
          <a:p>
            <a:pPr>
              <a:lnSpc>
                <a:spcPct val="115000"/>
              </a:lnSpc>
              <a:spcAft>
                <a:spcPts val="1200"/>
              </a:spcAft>
            </a:pPr>
            <a:r>
              <a:rPr b="1" sz="1200">
                <a:latin typeface="Segoe UI"/>
              </a:rPr>
              <a:t>• [3] Node.js Foundation, Node.js Documentation. Available: </a:t>
            </a:r>
            <a:r>
              <a:rPr b="0" sz="1200">
                <a:latin typeface="Segoe UI"/>
              </a:rPr>
              <a:t>https://nodejs.org/docs/ (Accessed Jan. 2026).</a:t>
            </a:r>
          </a:p>
          <a:p>
            <a:pPr>
              <a:lnSpc>
                <a:spcPct val="115000"/>
              </a:lnSpc>
              <a:spcAft>
                <a:spcPts val="1200"/>
              </a:spcAft>
            </a:pPr>
            <a:r>
              <a:rPr b="1" sz="1200">
                <a:latin typeface="Segoe UI"/>
              </a:rPr>
              <a:t>• [4] OpenJS Foundation, Express.js API Reference. Available: </a:t>
            </a:r>
            <a:r>
              <a:rPr b="0" sz="1200">
                <a:latin typeface="Segoe UI"/>
              </a:rPr>
              <a:t>https://expressjs.com/ (Accessed Jan. 2026).</a:t>
            </a:r>
          </a:p>
          <a:p>
            <a:pPr>
              <a:lnSpc>
                <a:spcPct val="115000"/>
              </a:lnSpc>
              <a:spcAft>
                <a:spcPts val="1200"/>
              </a:spcAft>
            </a:pPr>
            <a:r>
              <a:rPr b="1" sz="1200">
                <a:latin typeface="Segoe UI"/>
              </a:rPr>
              <a:t>• [5] Meta Platforms Inc., React: </a:t>
            </a:r>
            <a:r>
              <a:rPr b="0" sz="1200">
                <a:latin typeface="Segoe UI"/>
              </a:rPr>
              <a:t>A JavaScript Library. Available: https://react.dev/ (Accessed Jan. 2026).</a:t>
            </a:r>
          </a:p>
          <a:p>
            <a:pPr>
              <a:lnSpc>
                <a:spcPct val="115000"/>
              </a:lnSpc>
              <a:spcAft>
                <a:spcPts val="1200"/>
              </a:spcAft>
            </a:pPr>
            <a:r>
              <a:rPr b="1" sz="1200">
                <a:latin typeface="Segoe UI"/>
              </a:rPr>
              <a:t>• [6] Vercel Inc., Next.js Documentation. Available: </a:t>
            </a:r>
            <a:r>
              <a:rPr b="0" sz="1200">
                <a:latin typeface="Segoe UI"/>
              </a:rPr>
              <a:t>https://nextjs.org/docs (Accessed Jan. 2026).</a:t>
            </a:r>
          </a:p>
          <a:p>
            <a:pPr>
              <a:lnSpc>
                <a:spcPct val="115000"/>
              </a:lnSpc>
              <a:spcAft>
                <a:spcPts val="1200"/>
              </a:spcAft>
            </a:pPr>
            <a:r>
              <a:rPr b="1" sz="1200">
                <a:latin typeface="Segoe UI"/>
              </a:rPr>
              <a:t>• [7] FastAPI, FastAPI Web Framework. Available: </a:t>
            </a:r>
            <a:r>
              <a:rPr b="0" sz="1200">
                <a:latin typeface="Segoe UI"/>
              </a:rPr>
              <a:t>https://fastapi.tiangolo.com/ (Accessed Jan. 2026).</a:t>
            </a:r>
          </a:p>
          <a:p>
            <a:pPr>
              <a:lnSpc>
                <a:spcPct val="115000"/>
              </a:lnSpc>
              <a:spcAft>
                <a:spcPts val="1200"/>
              </a:spcAft>
            </a:pPr>
            <a:r>
              <a:rPr b="1" sz="1200">
                <a:latin typeface="Segoe UI"/>
              </a:rPr>
              <a:t>• [8] scikit-learn, Machine Learning Library. Available: </a:t>
            </a:r>
            <a:r>
              <a:rPr b="0" sz="1200">
                <a:latin typeface="Segoe UI"/>
              </a:rPr>
              <a:t>https://scikit-learn.org/ (Accessed Jan. 2026).</a:t>
            </a:r>
          </a:p>
        </p:txBody>
      </p:sp>
    </p:spTree>
    <p:extLst>
      <p:ext uri="{BB962C8B-B14F-4D97-AF65-F5344CB8AC3E}">
        <p14:creationId xmlns:p14="http://schemas.microsoft.com/office/powerpoint/2010/main" val="3735725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EB8A1B5F-0801-4AFF-A489-335B6A851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06201B52-6441-4DBA-BACE-235977581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4" name="Straight Connector 43">
            <a:extLst>
              <a:ext uri="{FF2B5EF4-FFF2-40B4-BE49-F238E27FC236}">
                <a16:creationId xmlns:a16="http://schemas.microsoft.com/office/drawing/2014/main" id="{89DF3DBB-17DD-4058-A944-5578E18A03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5" name="Rectangle 44">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758952"/>
            <a:ext cx="10058400" cy="3892168"/>
          </a:xfrm>
        </p:spPr>
        <p:txBody>
          <a:bodyPr vert="horz" lIns="91440" tIns="45720" rIns="91440" bIns="45720" rtlCol="0" anchor="b">
            <a:normAutofit/>
          </a:bodyPr>
          <a:lstStyle/>
          <a:p>
            <a:pPr/>
            <a:r>
              <a:rPr b="1" sz="3400">
                <a:latin typeface="Segoe UI"/>
              </a:rPr>
              <a:t>Any Questions?</a:t>
            </a:r>
            <a:endParaRPr lang="en-US" sz="8000" b="1" dirty="0">
              <a:solidFill>
                <a:schemeClr val="tx1">
                  <a:lumMod val="85000"/>
                  <a:lumOff val="15000"/>
                </a:schemeClr>
              </a:solidFill>
            </a:endParaRPr>
          </a:p>
        </p:txBody>
      </p:sp>
      <p:sp>
        <p:nvSpPr>
          <p:cNvPr id="46" name="Rectangle 45">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Footer Placeholder 6"/>
          <p:cNvSpPr>
            <a:spLocks noGrp="1"/>
          </p:cNvSpPr>
          <p:nvPr>
            <p:ph type="ftr" sz="quarter" idx="11"/>
          </p:nvPr>
        </p:nvSpPr>
        <p:spPr>
          <a:xfrm>
            <a:off x="3686185" y="6459785"/>
            <a:ext cx="4822804" cy="365125"/>
          </a:xfrm>
        </p:spPr>
        <p:txBody>
          <a:bodyPr vert="horz" lIns="91440" tIns="45720" rIns="91440" bIns="45720" rtlCol="0" anchor="ctr">
            <a:normAutofit/>
          </a:bodyPr>
          <a:lstStyle/>
          <a:p>
            <a:pPr defTabSz="457200" algn="ctr">
              <a:spcAft>
                <a:spcPts val="600"/>
              </a:spcAft>
            </a:pPr>
            <a:r>
              <a:rPr sz="950">
                <a:solidFill>
                  <a:srgbClr val="808080"/>
                </a:solidFill>
                <a:latin typeface="Segoe UI"/>
              </a:rPr>
              <a:t>BSc. Information Engg. Technology</a:t>
            </a:r>
          </a:p>
        </p:txBody>
      </p:sp>
      <p:sp>
        <p:nvSpPr>
          <p:cNvPr id="8" name="Slide Number Placeholder 7"/>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457200" algn="r">
              <a:spcAft>
                <a:spcPts val="600"/>
              </a:spcAft>
            </a:pPr>
            <a:r>
              <a:rPr sz="1100">
                <a:solidFill>
                  <a:srgbClr val="808080"/>
                </a:solidFill>
                <a:latin typeface="Segoe UI"/>
              </a:rPr>
              <a:t>16</a:t>
            </a:r>
            <a:endParaRPr lang="en-US"/>
          </a:p>
        </p:txBody>
      </p:sp>
      <p:sp>
        <p:nvSpPr>
          <p:cNvPr id="48" name="TextBox 47"/>
          <p:cNvSpPr txBox="1"/>
          <p:nvPr/>
        </p:nvSpPr>
        <p:spPr>
          <a:xfrm>
            <a:off x="1097280" y="1965960"/>
            <a:ext cx="10058400" cy="4069080"/>
          </a:xfrm>
          <a:prstGeom prst="rect">
            <a:avLst/>
          </a:prstGeom>
          <a:noFill/>
        </p:spPr>
        <p:txBody>
          <a:bodyPr wrap="square" lIns="0" tIns="0" rIns="0" bIns="0">
            <a:spAutoFit/>
          </a:bodyPr>
          <a:lstStyle/>
          <a:p>
            <a:pPr>
              <a:lnSpc>
                <a:spcPct val="115000"/>
              </a:lnSpc>
              <a:spcAft>
                <a:spcPts val="800"/>
              </a:spcAft>
            </a:pPr>
            <a:r>
              <a:rPr b="1" sz="1600">
                <a:latin typeface="Segoe UI"/>
              </a:rPr>
              <a:t>• Live Production Website: </a:t>
            </a:r>
            <a:r>
              <a:rPr b="0" sz="1600">
                <a:latin typeface="Segoe UI"/>
              </a:rPr>
              <a:t>https://work-fusion2026-client-y2f9.vercel.app/</a:t>
            </a:r>
          </a:p>
          <a:p>
            <a:pPr>
              <a:lnSpc>
                <a:spcPct val="115000"/>
              </a:lnSpc>
              <a:spcAft>
                <a:spcPts val="800"/>
              </a:spcAft>
            </a:pPr>
            <a:r>
              <a:rPr b="1" sz="1600">
                <a:latin typeface="Segoe UI"/>
              </a:rPr>
              <a:t>• Employer Credentials: </a:t>
            </a:r>
            <a:r>
              <a:rPr b="0" sz="1600">
                <a:latin typeface="Segoe UI"/>
              </a:rPr>
              <a:t>employer1@workfusion.com  (Password: password123)</a:t>
            </a:r>
          </a:p>
          <a:p>
            <a:pPr>
              <a:lnSpc>
                <a:spcPct val="115000"/>
              </a:lnSpc>
              <a:spcAft>
                <a:spcPts val="800"/>
              </a:spcAft>
            </a:pPr>
            <a:r>
              <a:rPr b="1" sz="1600">
                <a:latin typeface="Segoe UI"/>
              </a:rPr>
              <a:t>• Candidate Credentials: </a:t>
            </a:r>
            <a:r>
              <a:rPr b="0" sz="1600">
                <a:latin typeface="Segoe UI"/>
              </a:rPr>
              <a:t>seeker1@workfusion.com  (Password: password123)</a:t>
            </a:r>
          </a:p>
          <a:p>
            <a:pPr>
              <a:lnSpc>
                <a:spcPct val="115000"/>
              </a:lnSpc>
              <a:spcAft>
                <a:spcPts val="800"/>
              </a:spcAft>
            </a:pPr>
            <a:r>
              <a:rPr b="1" sz="1600">
                <a:latin typeface="Segoe UI"/>
              </a:rPr>
              <a:t>• Project Engineers: </a:t>
            </a:r>
            <a:r>
              <a:rPr b="0" sz="1600">
                <a:latin typeface="Segoe UI"/>
              </a:rPr>
              <a:t>Muhammad Sharjeel bin Riaz &amp; Hamza Shahzad</a:t>
            </a:r>
          </a:p>
          <a:p>
            <a:pPr>
              <a:lnSpc>
                <a:spcPct val="115000"/>
              </a:lnSpc>
              <a:spcAft>
                <a:spcPts val="800"/>
              </a:spcAft>
            </a:pPr>
            <a:r>
              <a:rPr b="1" sz="1600">
                <a:latin typeface="Segoe UI"/>
              </a:rPr>
              <a:t>• Platform Tagline: </a:t>
            </a:r>
            <a:r>
              <a:rPr b="0" sz="1600">
                <a:latin typeface="Segoe UI"/>
              </a:rPr>
              <a:t>One Platform For Every Skill</a:t>
            </a:r>
          </a:p>
        </p:txBody>
      </p:sp>
    </p:spTree>
    <p:extLst>
      <p:ext uri="{BB962C8B-B14F-4D97-AF65-F5344CB8AC3E}">
        <p14:creationId xmlns:p14="http://schemas.microsoft.com/office/powerpoint/2010/main" val="353996278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82</TotalTime>
  <Words>830</Words>
  <Application>Microsoft Office PowerPoint</Application>
  <PresentationFormat>Widescreen</PresentationFormat>
  <Paragraphs>195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Retrospect</vt:lpstr>
      <vt:lpstr>WorkFusion: A Hybrid Marketplace for Online Freelancing and Physical Service Hiring</vt:lpstr>
      <vt:lpstr>Problem Statement</vt:lpstr>
      <vt:lpstr>Literature Review</vt:lpstr>
      <vt:lpstr>Business Scope</vt:lpstr>
      <vt:lpstr>Methodology/Framework</vt:lpstr>
      <vt:lpstr>Tools and Languages</vt:lpstr>
      <vt:lpstr>Constraints and Limitation</vt:lpstr>
      <vt:lpstr>Work breakdown with timelines</vt:lpstr>
      <vt:lpstr>Conclusion</vt:lpstr>
      <vt:lpstr>References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Afifa Zaffar</dc:creator>
  <cp:lastModifiedBy>Muhammad Sharjeel Bin Riaz</cp:lastModifiedBy>
  <cp:revision>7</cp:revision>
  <dcterms:created xsi:type="dcterms:W3CDTF">2023-08-24T09:23:57Z</dcterms:created>
  <dcterms:modified xsi:type="dcterms:W3CDTF">2026-02-15T21:39:31Z</dcterms:modified>
</cp:coreProperties>
</file>